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60" r:id="rId3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embeddedFontLst>
    <p:embeddedFont>
      <p:font typeface="Noto Sans SC" panose="020B0200000000000000" pitchFamily="34" charset="-122"/>
      <p:regular r:id="rId32"/>
    </p:embeddedFont>
    <p:embeddedFont>
      <p:font typeface="Noto Sans SC" panose="020B0200000000000000" pitchFamily="34" charset="-120"/>
      <p:regular r:id="rId33"/>
    </p:embeddedFont>
    <p:embeddedFont>
      <p:font typeface="MiSans" pitchFamily="34" charset="-122"/>
      <p:regular r:id="rId34"/>
    </p:embeddedFont>
    <p:embeddedFont>
      <p:font typeface="MiSans" pitchFamily="34" charset="-120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webp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079500"/>
            <a:ext cx="76835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PrognosAI: AI-Driven Predictive Maintenance System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3568700"/>
            <a:ext cx="7505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Using Time-Series Sensor Data from NASA CMAPSS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4330700"/>
            <a:ext cx="7378700" cy="0"/>
          </a:xfrm>
          <a:prstGeom prst="line">
            <a:avLst/>
          </a:prstGeom>
          <a:noFill/>
          <a:ln w="25400">
            <a:solidFill>
              <a:srgbClr val="3A76B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254000" y="4559300"/>
            <a:ext cx="749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Presented by: </a:t>
            </a:r>
            <a:r>
              <a:rPr lang="en-US" sz="18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Praveen Kumar S</a:t>
            </a: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– IIIT Kottayam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" y="5422900"/>
            <a:ext cx="863600" cy="355600"/>
          </a:xfrm>
          <a:custGeom>
            <a:avLst/>
            <a:gdLst/>
            <a:ahLst/>
            <a:cxnLst/>
            <a:rect l="l" t="t" r="r" b="b"/>
            <a:pathLst>
              <a:path w="863600" h="355600">
                <a:moveTo>
                  <a:pt x="177800" y="0"/>
                </a:moveTo>
                <a:lnTo>
                  <a:pt x="685800" y="0"/>
                </a:lnTo>
                <a:cubicBezTo>
                  <a:pt x="783930" y="0"/>
                  <a:pt x="863600" y="79670"/>
                  <a:pt x="863600" y="177800"/>
                </a:cubicBezTo>
                <a:lnTo>
                  <a:pt x="863600" y="177800"/>
                </a:lnTo>
                <a:cubicBezTo>
                  <a:pt x="863600" y="275930"/>
                  <a:pt x="783930" y="355600"/>
                  <a:pt x="685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9" name="Text 6"/>
          <p:cNvSpPr/>
          <p:nvPr/>
        </p:nvSpPr>
        <p:spPr>
          <a:xfrm>
            <a:off x="254000" y="5422900"/>
            <a:ext cx="9525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14041" y="5422900"/>
            <a:ext cx="1231900" cy="355600"/>
          </a:xfrm>
          <a:custGeom>
            <a:avLst/>
            <a:gdLst/>
            <a:ahLst/>
            <a:cxnLst/>
            <a:rect l="l" t="t" r="r" b="b"/>
            <a:pathLst>
              <a:path w="1231900" h="355600">
                <a:moveTo>
                  <a:pt x="177800" y="0"/>
                </a:moveTo>
                <a:lnTo>
                  <a:pt x="1054100" y="0"/>
                </a:lnTo>
                <a:cubicBezTo>
                  <a:pt x="1152230" y="0"/>
                  <a:pt x="1231900" y="79670"/>
                  <a:pt x="1231900" y="177800"/>
                </a:cubicBezTo>
                <a:lnTo>
                  <a:pt x="1231900" y="177800"/>
                </a:lnTo>
                <a:cubicBezTo>
                  <a:pt x="1231900" y="275930"/>
                  <a:pt x="1152230" y="355600"/>
                  <a:pt x="1054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11" name="Text 8"/>
          <p:cNvSpPr/>
          <p:nvPr/>
        </p:nvSpPr>
        <p:spPr>
          <a:xfrm>
            <a:off x="1214041" y="5422900"/>
            <a:ext cx="13208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9260" y="5422900"/>
            <a:ext cx="774700" cy="355600"/>
          </a:xfrm>
          <a:custGeom>
            <a:avLst/>
            <a:gdLst/>
            <a:ahLst/>
            <a:cxnLst/>
            <a:rect l="l" t="t" r="r" b="b"/>
            <a:pathLst>
              <a:path w="774700" h="355600">
                <a:moveTo>
                  <a:pt x="177800" y="0"/>
                </a:moveTo>
                <a:lnTo>
                  <a:pt x="596900" y="0"/>
                </a:lnTo>
                <a:cubicBezTo>
                  <a:pt x="695030" y="0"/>
                  <a:pt x="774700" y="79670"/>
                  <a:pt x="774700" y="177800"/>
                </a:cubicBezTo>
                <a:lnTo>
                  <a:pt x="774700" y="177800"/>
                </a:lnTo>
                <a:cubicBezTo>
                  <a:pt x="774700" y="275930"/>
                  <a:pt x="695030" y="355600"/>
                  <a:pt x="5969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13" name="Text 10"/>
          <p:cNvSpPr/>
          <p:nvPr/>
        </p:nvSpPr>
        <p:spPr>
          <a:xfrm>
            <a:off x="2549260" y="5422900"/>
            <a:ext cx="8636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Keras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20137" y="5422900"/>
            <a:ext cx="901700" cy="355600"/>
          </a:xfrm>
          <a:custGeom>
            <a:avLst/>
            <a:gdLst/>
            <a:ahLst/>
            <a:cxnLst/>
            <a:rect l="l" t="t" r="r" b="b"/>
            <a:pathLst>
              <a:path w="901700" h="355600">
                <a:moveTo>
                  <a:pt x="177800" y="0"/>
                </a:moveTo>
                <a:lnTo>
                  <a:pt x="723900" y="0"/>
                </a:lnTo>
                <a:cubicBezTo>
                  <a:pt x="822030" y="0"/>
                  <a:pt x="901700" y="79670"/>
                  <a:pt x="901700" y="177800"/>
                </a:cubicBezTo>
                <a:lnTo>
                  <a:pt x="901700" y="177800"/>
                </a:lnTo>
                <a:cubicBezTo>
                  <a:pt x="901700" y="275930"/>
                  <a:pt x="822030" y="355600"/>
                  <a:pt x="7239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15" name="Text 12"/>
          <p:cNvSpPr/>
          <p:nvPr/>
        </p:nvSpPr>
        <p:spPr>
          <a:xfrm>
            <a:off x="3420137" y="5422900"/>
            <a:ext cx="9906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29654" y="5422900"/>
            <a:ext cx="1066800" cy="355600"/>
          </a:xfrm>
          <a:custGeom>
            <a:avLst/>
            <a:gdLst/>
            <a:ahLst/>
            <a:cxnLst/>
            <a:rect l="l" t="t" r="r" b="b"/>
            <a:pathLst>
              <a:path w="1066800" h="355600">
                <a:moveTo>
                  <a:pt x="177800" y="0"/>
                </a:moveTo>
                <a:lnTo>
                  <a:pt x="889000" y="0"/>
                </a:lnTo>
                <a:cubicBezTo>
                  <a:pt x="987130" y="0"/>
                  <a:pt x="1066800" y="79670"/>
                  <a:pt x="1066800" y="177800"/>
                </a:cubicBezTo>
                <a:lnTo>
                  <a:pt x="1066800" y="177800"/>
                </a:lnTo>
                <a:cubicBezTo>
                  <a:pt x="1066800" y="275930"/>
                  <a:pt x="987130" y="355600"/>
                  <a:pt x="889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17" name="Text 14"/>
          <p:cNvSpPr/>
          <p:nvPr/>
        </p:nvSpPr>
        <p:spPr>
          <a:xfrm>
            <a:off x="4429654" y="5422900"/>
            <a:ext cx="1155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597128" y="5422900"/>
            <a:ext cx="977900" cy="355600"/>
          </a:xfrm>
          <a:custGeom>
            <a:avLst/>
            <a:gdLst/>
            <a:ahLst/>
            <a:cxnLst/>
            <a:rect l="l" t="t" r="r" b="b"/>
            <a:pathLst>
              <a:path w="977900" h="355600">
                <a:moveTo>
                  <a:pt x="177800" y="0"/>
                </a:moveTo>
                <a:lnTo>
                  <a:pt x="800100" y="0"/>
                </a:lnTo>
                <a:cubicBezTo>
                  <a:pt x="898230" y="0"/>
                  <a:pt x="977900" y="79670"/>
                  <a:pt x="977900" y="177800"/>
                </a:cubicBezTo>
                <a:lnTo>
                  <a:pt x="977900" y="177800"/>
                </a:lnTo>
                <a:cubicBezTo>
                  <a:pt x="977900" y="275930"/>
                  <a:pt x="898230" y="355600"/>
                  <a:pt x="800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19" name="Text 16"/>
          <p:cNvSpPr/>
          <p:nvPr/>
        </p:nvSpPr>
        <p:spPr>
          <a:xfrm>
            <a:off x="5597128" y="5422900"/>
            <a:ext cx="10668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Seaborn</a:t>
            </a:r>
            <a:endParaRPr lang="en-US" sz="1600" dirty="0"/>
          </a:p>
        </p:txBody>
      </p:sp>
      <p:pic>
        <p:nvPicPr>
          <p:cNvPr id="20" name="Image 1" descr="https://kimi-web-img.moonshot.cn/img/img.freepik.com/450b415eba62354992634287c3e1d834ce56d179.jpg"/>
          <p:cNvPicPr>
            <a:picLocks noChangeAspect="1"/>
          </p:cNvPicPr>
          <p:nvPr/>
        </p:nvPicPr>
        <p:blipFill>
          <a:blip r:embed="rId2"/>
          <a:srcRect l="21311" r="21311"/>
          <a:stretch>
            <a:fillRect/>
          </a:stretch>
        </p:blipFill>
        <p:spPr>
          <a:xfrm>
            <a:off x="8043334" y="1524000"/>
            <a:ext cx="3898900" cy="3810000"/>
          </a:xfrm>
          <a:prstGeom prst="roundRect">
            <a:avLst>
              <a:gd name="adj" fmla="val 2667"/>
            </a:avLst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2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6042" y="-5184"/>
            <a:ext cx="12203363" cy="68710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9027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037028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25028" y="6072610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213029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301029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H="1">
            <a:off x="11601221" y="672670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11601221" y="672670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11473046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11473046" y="672670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flipH="1">
            <a:off x="11342032" y="672670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11342032" y="672670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flipH="1">
            <a:off x="112110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11211018" y="672670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1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1406668"/>
            <a:ext cx="627966" cy="1024577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2165401"/>
            <a:ext cx="627966" cy="1024577"/>
          </a:xfrm>
          <a:prstGeom prst="rect">
            <a:avLst/>
          </a:prstGeom>
        </p:spPr>
      </p:pic>
      <p:pic>
        <p:nvPicPr>
          <p:cNvPr id="18" name="Image 3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2935631"/>
            <a:ext cx="627966" cy="1024577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3694364"/>
            <a:ext cx="627966" cy="1024577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4459729"/>
            <a:ext cx="627966" cy="102457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7405" y="568325"/>
            <a:ext cx="3472180" cy="795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20:02:05-d2nf7f98bjvh7rlj05t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04" y="1456073"/>
            <a:ext cx="355600" cy="304800"/>
          </a:xfrm>
          <a:prstGeom prst="rect">
            <a:avLst/>
          </a:prstGeom>
        </p:spPr>
      </p:pic>
      <p:sp>
        <p:nvSpPr>
          <p:cNvPr id="23" name="Text 14"/>
          <p:cNvSpPr/>
          <p:nvPr>
            <p:custDataLst>
              <p:tags r:id="rId9"/>
            </p:custDataLst>
          </p:nvPr>
        </p:nvSpPr>
        <p:spPr>
          <a:xfrm>
            <a:off x="4790075" y="1669483"/>
            <a:ext cx="785009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5"/>
          <p:cNvSpPr/>
          <p:nvPr>
            <p:custDataLst>
              <p:tags r:id="rId10"/>
            </p:custDataLst>
          </p:nvPr>
        </p:nvSpPr>
        <p:spPr>
          <a:xfrm>
            <a:off x="5866678" y="1730068"/>
            <a:ext cx="3665564" cy="54245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25" name="Text 16"/>
          <p:cNvSpPr/>
          <p:nvPr>
            <p:custDataLst>
              <p:tags r:id="rId11"/>
            </p:custDataLst>
          </p:nvPr>
        </p:nvSpPr>
        <p:spPr>
          <a:xfrm>
            <a:off x="4790075" y="2416721"/>
            <a:ext cx="830993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7"/>
          <p:cNvSpPr/>
          <p:nvPr>
            <p:custDataLst>
              <p:tags r:id="rId12"/>
            </p:custDataLst>
          </p:nvPr>
        </p:nvSpPr>
        <p:spPr>
          <a:xfrm>
            <a:off x="5866678" y="2477305"/>
            <a:ext cx="3665564" cy="54245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Literature &amp; Problem Scope</a:t>
            </a:r>
            <a:endParaRPr lang="en-US" sz="1600" dirty="0"/>
          </a:p>
        </p:txBody>
      </p:sp>
      <p:sp>
        <p:nvSpPr>
          <p:cNvPr id="27" name="Text 18"/>
          <p:cNvSpPr/>
          <p:nvPr>
            <p:custDataLst>
              <p:tags r:id="rId13"/>
            </p:custDataLst>
          </p:nvPr>
        </p:nvSpPr>
        <p:spPr>
          <a:xfrm>
            <a:off x="4790075" y="3198446"/>
            <a:ext cx="830993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>
            <p:custDataLst>
              <p:tags r:id="rId14"/>
            </p:custDataLst>
          </p:nvPr>
        </p:nvSpPr>
        <p:spPr>
          <a:xfrm>
            <a:off x="5866678" y="3259030"/>
            <a:ext cx="3665564" cy="54245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Methodology &amp; Dataset</a:t>
            </a:r>
            <a:endParaRPr lang="en-US" sz="1600" dirty="0"/>
          </a:p>
        </p:txBody>
      </p:sp>
      <p:sp>
        <p:nvSpPr>
          <p:cNvPr id="29" name="Text 20"/>
          <p:cNvSpPr/>
          <p:nvPr>
            <p:custDataLst>
              <p:tags r:id="rId15"/>
            </p:custDataLst>
          </p:nvPr>
        </p:nvSpPr>
        <p:spPr>
          <a:xfrm>
            <a:off x="4790075" y="3934187"/>
            <a:ext cx="830993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1"/>
          <p:cNvSpPr/>
          <p:nvPr>
            <p:custDataLst>
              <p:tags r:id="rId16"/>
            </p:custDataLst>
          </p:nvPr>
        </p:nvSpPr>
        <p:spPr>
          <a:xfrm>
            <a:off x="5866678" y="3994771"/>
            <a:ext cx="3665564" cy="54245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31" name="Text 22"/>
          <p:cNvSpPr/>
          <p:nvPr>
            <p:custDataLst>
              <p:tags r:id="rId17"/>
            </p:custDataLst>
          </p:nvPr>
        </p:nvSpPr>
        <p:spPr>
          <a:xfrm>
            <a:off x="4790075" y="4699552"/>
            <a:ext cx="830993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3"/>
          <p:cNvSpPr/>
          <p:nvPr>
            <p:custDataLst>
              <p:tags r:id="rId18"/>
            </p:custDataLst>
          </p:nvPr>
        </p:nvSpPr>
        <p:spPr>
          <a:xfrm>
            <a:off x="5866678" y="4760136"/>
            <a:ext cx="3665564" cy="54245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Results &amp; Evaluation</a:t>
            </a:r>
            <a:endParaRPr lang="en-US" sz="1600" dirty="0"/>
          </a:p>
        </p:txBody>
      </p:sp>
      <p:sp>
        <p:nvSpPr>
          <p:cNvPr id="34" name="Text 16"/>
          <p:cNvSpPr/>
          <p:nvPr>
            <p:custDataLst>
              <p:tags r:id="rId19"/>
            </p:custDataLst>
          </p:nvPr>
        </p:nvSpPr>
        <p:spPr>
          <a:xfrm>
            <a:off x="5944092" y="5525815"/>
            <a:ext cx="455301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Insights &amp; Applications</a:t>
            </a:r>
            <a:endParaRPr lang="en-US" sz="2000" dirty="0"/>
          </a:p>
        </p:txBody>
      </p:sp>
      <p:pic>
        <p:nvPicPr>
          <p:cNvPr id="35" name="Image 5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5222999"/>
            <a:ext cx="627966" cy="1024577"/>
          </a:xfrm>
          <a:prstGeom prst="rect">
            <a:avLst/>
          </a:prstGeom>
        </p:spPr>
      </p:pic>
      <p:sp>
        <p:nvSpPr>
          <p:cNvPr id="37" name="Text 22"/>
          <p:cNvSpPr/>
          <p:nvPr>
            <p:custDataLst>
              <p:tags r:id="rId21"/>
            </p:custDataLst>
          </p:nvPr>
        </p:nvSpPr>
        <p:spPr>
          <a:xfrm>
            <a:off x="4790075" y="5392972"/>
            <a:ext cx="830993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19"/>
          <p:cNvSpPr/>
          <p:nvPr>
            <p:custDataLst>
              <p:tags r:id="rId22"/>
            </p:custDataLst>
          </p:nvPr>
        </p:nvSpPr>
        <p:spPr>
          <a:xfrm>
            <a:off x="5866622" y="6280220"/>
            <a:ext cx="455301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39" name="Text 22"/>
          <p:cNvSpPr/>
          <p:nvPr>
            <p:custDataLst>
              <p:tags r:id="rId23"/>
            </p:custDataLst>
          </p:nvPr>
        </p:nvSpPr>
        <p:spPr>
          <a:xfrm>
            <a:off x="4790075" y="6124492"/>
            <a:ext cx="830993" cy="63460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40" name="Image 5" descr="https://kimi-img.moonshot.cn/pub/slides/slides_tmpl/image/25-08-27-20:02:05-d2nf7f98bjvh7rlj05u0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16023" y="5950709"/>
            <a:ext cx="627966" cy="102457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422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Motivation: From Reactive to Predictive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7018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5" name="Text 2"/>
          <p:cNvSpPr/>
          <p:nvPr/>
        </p:nvSpPr>
        <p:spPr>
          <a:xfrm>
            <a:off x="1526646" y="2997200"/>
            <a:ext cx="965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Failure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1650" y="3403600"/>
            <a:ext cx="3009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Unplanned downtime &amp; costly repairs.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08400" y="2794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3A76B8"/>
          </a:solidFill>
        </p:spPr>
      </p:sp>
      <p:sp>
        <p:nvSpPr>
          <p:cNvPr id="8" name="Shape 5"/>
          <p:cNvSpPr/>
          <p:nvPr/>
        </p:nvSpPr>
        <p:spPr>
          <a:xfrm>
            <a:off x="5791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57AFFF"/>
          </a:solidFill>
        </p:spPr>
      </p:sp>
      <p:sp>
        <p:nvSpPr>
          <p:cNvPr id="9" name="Text 6"/>
          <p:cNvSpPr/>
          <p:nvPr/>
        </p:nvSpPr>
        <p:spPr>
          <a:xfrm>
            <a:off x="5411391" y="2997200"/>
            <a:ext cx="137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91050" y="3403600"/>
            <a:ext cx="3009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 forecasts Remaining Useful Life (RUL).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97800" y="2794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3A76B8"/>
          </a:solidFill>
        </p:spPr>
      </p:sp>
      <p:sp>
        <p:nvSpPr>
          <p:cNvPr id="12" name="Shape 9"/>
          <p:cNvSpPr/>
          <p:nvPr/>
        </p:nvSpPr>
        <p:spPr>
          <a:xfrm>
            <a:off x="98806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34B1C9"/>
          </a:solidFill>
        </p:spPr>
      </p:sp>
      <p:sp>
        <p:nvSpPr>
          <p:cNvPr id="13" name="Text 10"/>
          <p:cNvSpPr/>
          <p:nvPr/>
        </p:nvSpPr>
        <p:spPr>
          <a:xfrm>
            <a:off x="9465469" y="2997200"/>
            <a:ext cx="1435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Prevention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0450" y="3403600"/>
            <a:ext cx="3009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Proactive maintenance before breakdown.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000" y="4318000"/>
            <a:ext cx="11684000" cy="1117600"/>
          </a:xfrm>
          <a:custGeom>
            <a:avLst/>
            <a:gdLst/>
            <a:ahLst/>
            <a:cxnLst/>
            <a:rect l="l" t="t" r="r" b="b"/>
            <a:pathLst>
              <a:path w="11684000" h="11176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1015999"/>
                </a:lnTo>
                <a:cubicBezTo>
                  <a:pt x="11684000" y="1072112"/>
                  <a:pt x="11638512" y="1117600"/>
                  <a:pt x="11582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400050" y="4521200"/>
            <a:ext cx="113919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Our core objective is to leverage AI to predict the </a:t>
            </a:r>
            <a:r>
              <a:rPr lang="en-US" sz="18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Remaining Useful Life (RUL)</a:t>
            </a: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of engines, enabling a shift from costly reactive fixes to efficient proactive maintenance.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Literature &amp; Problem Scope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Literature Review: The Evolution to Deep Learning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5689600" cy="3911600"/>
          </a:xfrm>
          <a:custGeom>
            <a:avLst/>
            <a:gdLst/>
            <a:ahLst/>
            <a:cxnLst/>
            <a:rect l="l" t="t" r="r" b="b"/>
            <a:pathLst>
              <a:path w="5689600" h="3911600">
                <a:moveTo>
                  <a:pt x="101584" y="0"/>
                </a:moveTo>
                <a:lnTo>
                  <a:pt x="5588016" y="0"/>
                </a:lnTo>
                <a:cubicBezTo>
                  <a:pt x="5644119" y="0"/>
                  <a:pt x="5689600" y="45481"/>
                  <a:pt x="5689600" y="101584"/>
                </a:cubicBezTo>
                <a:lnTo>
                  <a:pt x="5689600" y="3810016"/>
                </a:lnTo>
                <a:cubicBezTo>
                  <a:pt x="5689600" y="3866119"/>
                  <a:pt x="5644119" y="3911600"/>
                  <a:pt x="5588016" y="3911600"/>
                </a:cubicBezTo>
                <a:lnTo>
                  <a:pt x="101584" y="3911600"/>
                </a:lnTo>
                <a:cubicBezTo>
                  <a:pt x="45481" y="3911600"/>
                  <a:pt x="0" y="3866119"/>
                  <a:pt x="0" y="3810016"/>
                </a:cubicBezTo>
                <a:lnTo>
                  <a:pt x="0" y="101584"/>
                </a:lnTo>
                <a:cubicBezTo>
                  <a:pt x="0" y="45481"/>
                  <a:pt x="45481" y="0"/>
                  <a:pt x="101584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381000" y="1219200"/>
            <a:ext cx="543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Traditional ML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98775" y="2540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93" y="394424"/>
                </a:moveTo>
                <a:cubicBezTo>
                  <a:pt x="4911" y="413891"/>
                  <a:pt x="22146" y="428625"/>
                  <a:pt x="42863" y="428625"/>
                </a:cubicBezTo>
                <a:lnTo>
                  <a:pt x="357188" y="428625"/>
                </a:lnTo>
                <a:cubicBezTo>
                  <a:pt x="380851" y="428625"/>
                  <a:pt x="400050" y="409426"/>
                  <a:pt x="400050" y="385763"/>
                </a:cubicBezTo>
                <a:lnTo>
                  <a:pt x="400050" y="300038"/>
                </a:lnTo>
                <a:cubicBezTo>
                  <a:pt x="400050" y="276374"/>
                  <a:pt x="380851" y="257175"/>
                  <a:pt x="357188" y="257175"/>
                </a:cubicBezTo>
                <a:lnTo>
                  <a:pt x="314325" y="257175"/>
                </a:lnTo>
                <a:lnTo>
                  <a:pt x="314325" y="321469"/>
                </a:lnTo>
                <a:cubicBezTo>
                  <a:pt x="314325" y="333345"/>
                  <a:pt x="304770" y="342900"/>
                  <a:pt x="292894" y="342900"/>
                </a:cubicBezTo>
                <a:cubicBezTo>
                  <a:pt x="281017" y="342900"/>
                  <a:pt x="271463" y="333345"/>
                  <a:pt x="271463" y="321469"/>
                </a:cubicBezTo>
                <a:lnTo>
                  <a:pt x="271463" y="257175"/>
                </a:lnTo>
                <a:lnTo>
                  <a:pt x="214313" y="257175"/>
                </a:lnTo>
                <a:lnTo>
                  <a:pt x="214313" y="321469"/>
                </a:lnTo>
                <a:cubicBezTo>
                  <a:pt x="214313" y="333345"/>
                  <a:pt x="204758" y="342900"/>
                  <a:pt x="192881" y="342900"/>
                </a:cubicBezTo>
                <a:cubicBezTo>
                  <a:pt x="181005" y="342900"/>
                  <a:pt x="171450" y="333345"/>
                  <a:pt x="171450" y="321469"/>
                </a:cubicBezTo>
                <a:lnTo>
                  <a:pt x="171450" y="257175"/>
                </a:lnTo>
                <a:lnTo>
                  <a:pt x="107156" y="257175"/>
                </a:lnTo>
                <a:cubicBezTo>
                  <a:pt x="95280" y="257175"/>
                  <a:pt x="85725" y="247620"/>
                  <a:pt x="85725" y="235744"/>
                </a:cubicBezTo>
                <a:cubicBezTo>
                  <a:pt x="85725" y="223867"/>
                  <a:pt x="95280" y="214313"/>
                  <a:pt x="107156" y="214313"/>
                </a:cubicBezTo>
                <a:lnTo>
                  <a:pt x="171450" y="214313"/>
                </a:lnTo>
                <a:lnTo>
                  <a:pt x="171450" y="157163"/>
                </a:lnTo>
                <a:lnTo>
                  <a:pt x="107156" y="157163"/>
                </a:lnTo>
                <a:cubicBezTo>
                  <a:pt x="95280" y="157163"/>
                  <a:pt x="85725" y="147608"/>
                  <a:pt x="85725" y="135731"/>
                </a:cubicBezTo>
                <a:cubicBezTo>
                  <a:pt x="85725" y="123855"/>
                  <a:pt x="95280" y="114300"/>
                  <a:pt x="107156" y="114300"/>
                </a:cubicBezTo>
                <a:lnTo>
                  <a:pt x="171450" y="114300"/>
                </a:lnTo>
                <a:lnTo>
                  <a:pt x="171450" y="71438"/>
                </a:lnTo>
                <a:cubicBezTo>
                  <a:pt x="171450" y="47774"/>
                  <a:pt x="152251" y="28575"/>
                  <a:pt x="128588" y="28575"/>
                </a:cubicBezTo>
                <a:lnTo>
                  <a:pt x="42863" y="28575"/>
                </a:lnTo>
                <a:cubicBezTo>
                  <a:pt x="19199" y="28575"/>
                  <a:pt x="0" y="47774"/>
                  <a:pt x="0" y="71438"/>
                </a:cubicBezTo>
                <a:lnTo>
                  <a:pt x="0" y="385763"/>
                </a:lnTo>
                <a:cubicBezTo>
                  <a:pt x="0" y="388709"/>
                  <a:pt x="268" y="391656"/>
                  <a:pt x="893" y="394424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7" name="Text 4"/>
          <p:cNvSpPr/>
          <p:nvPr/>
        </p:nvSpPr>
        <p:spPr>
          <a:xfrm>
            <a:off x="1802739" y="3200400"/>
            <a:ext cx="2590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Linear Regression, SVM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4218" y="37592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Limited temporal understanding.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8400" y="1016000"/>
            <a:ext cx="5689600" cy="3911600"/>
          </a:xfrm>
          <a:custGeom>
            <a:avLst/>
            <a:gdLst/>
            <a:ahLst/>
            <a:cxnLst/>
            <a:rect l="l" t="t" r="r" b="b"/>
            <a:pathLst>
              <a:path w="5689600" h="3911600">
                <a:moveTo>
                  <a:pt x="101584" y="0"/>
                </a:moveTo>
                <a:lnTo>
                  <a:pt x="5588016" y="0"/>
                </a:lnTo>
                <a:cubicBezTo>
                  <a:pt x="5644119" y="0"/>
                  <a:pt x="5689600" y="45481"/>
                  <a:pt x="5689600" y="101584"/>
                </a:cubicBezTo>
                <a:lnTo>
                  <a:pt x="5689600" y="3810016"/>
                </a:lnTo>
                <a:cubicBezTo>
                  <a:pt x="5689600" y="3866119"/>
                  <a:pt x="5644119" y="3911600"/>
                  <a:pt x="5588016" y="3911600"/>
                </a:cubicBezTo>
                <a:lnTo>
                  <a:pt x="101584" y="3911600"/>
                </a:lnTo>
                <a:cubicBezTo>
                  <a:pt x="45481" y="3911600"/>
                  <a:pt x="0" y="3866119"/>
                  <a:pt x="0" y="3810016"/>
                </a:cubicBezTo>
                <a:lnTo>
                  <a:pt x="0" y="101584"/>
                </a:lnTo>
                <a:cubicBezTo>
                  <a:pt x="0" y="45481"/>
                  <a:pt x="45481" y="0"/>
                  <a:pt x="101584" y="0"/>
                </a:cubicBezTo>
                <a:close/>
              </a:path>
            </a:pathLst>
          </a:custGeom>
          <a:solidFill>
            <a:srgbClr val="34B1C9">
              <a:alpha val="2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375400" y="1219200"/>
            <a:ext cx="543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836025" y="2540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57AFFF"/>
          </a:solidFill>
        </p:spPr>
      </p:sp>
      <p:sp>
        <p:nvSpPr>
          <p:cNvPr id="12" name="Text 9"/>
          <p:cNvSpPr/>
          <p:nvPr/>
        </p:nvSpPr>
        <p:spPr>
          <a:xfrm>
            <a:off x="8413618" y="3200400"/>
            <a:ext cx="135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LSTM, GRU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26603" y="3759200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Effectively capture time dependencies.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4000" y="5232400"/>
            <a:ext cx="0" cy="1371600"/>
          </a:xfrm>
          <a:prstGeom prst="line">
            <a:avLst/>
          </a:prstGeom>
          <a:noFill/>
          <a:ln w="50800">
            <a:solidFill>
              <a:srgbClr val="57AFFF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254000" y="5232400"/>
            <a:ext cx="11633200" cy="1371600"/>
          </a:xfrm>
          <a:custGeom>
            <a:avLst/>
            <a:gdLst/>
            <a:ahLst/>
            <a:cxnLst/>
            <a:rect l="l" t="t" r="r" b="b"/>
            <a:pathLst>
              <a:path w="11633200" h="1371600">
                <a:moveTo>
                  <a:pt x="0" y="0"/>
                </a:moveTo>
                <a:lnTo>
                  <a:pt x="11531606" y="0"/>
                </a:lnTo>
                <a:cubicBezTo>
                  <a:pt x="11587715" y="0"/>
                  <a:pt x="11633200" y="45485"/>
                  <a:pt x="11633200" y="101594"/>
                </a:cubicBezTo>
                <a:lnTo>
                  <a:pt x="11633200" y="1270006"/>
                </a:lnTo>
                <a:cubicBezTo>
                  <a:pt x="11633200" y="1326115"/>
                  <a:pt x="11587715" y="1371600"/>
                  <a:pt x="11531606" y="1371600"/>
                </a:cubicBez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57AFFF">
              <a:alpha val="20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508000" y="5435600"/>
            <a:ext cx="11341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Identified Gap &amp; Our Solution: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8000" y="5791200"/>
            <a:ext cx="11328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Most research focuses on single datasets, leading to poor generalization. We address this by </a:t>
            </a: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combining all four CMAPSS subsets (FD001–FD004)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to build a universally robust model.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4478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Problem Statement &amp; System Goal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318154" y="23114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5" name="Text 2"/>
          <p:cNvSpPr/>
          <p:nvPr/>
        </p:nvSpPr>
        <p:spPr>
          <a:xfrm>
            <a:off x="829204" y="3022600"/>
            <a:ext cx="1511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Sensor Input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2750" y="3378200"/>
            <a:ext cx="2349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Multivariate Time-Series Data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14241" y="3073400"/>
            <a:ext cx="546100" cy="50800"/>
          </a:xfrm>
          <a:custGeom>
            <a:avLst/>
            <a:gdLst/>
            <a:ahLst/>
            <a:cxnLst/>
            <a:rect l="l" t="t" r="r" b="b"/>
            <a:pathLst>
              <a:path w="546100" h="50800">
                <a:moveTo>
                  <a:pt x="0" y="0"/>
                </a:moveTo>
                <a:lnTo>
                  <a:pt x="546100" y="0"/>
                </a:lnTo>
                <a:lnTo>
                  <a:pt x="5461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4B1C9"/>
              </a:gs>
              <a:gs pos="100000">
                <a:srgbClr val="3A76B8"/>
              </a:gs>
            </a:gsLst>
            <a:lin ang="0" scaled="1"/>
          </a:gradFill>
        </p:spPr>
      </p:sp>
      <p:sp>
        <p:nvSpPr>
          <p:cNvPr id="8" name="Shape 5"/>
          <p:cNvSpPr/>
          <p:nvPr/>
        </p:nvSpPr>
        <p:spPr>
          <a:xfrm>
            <a:off x="4211241" y="23114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9" name="Text 6"/>
          <p:cNvSpPr/>
          <p:nvPr/>
        </p:nvSpPr>
        <p:spPr>
          <a:xfrm>
            <a:off x="4058841" y="3022600"/>
            <a:ext cx="106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 Model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0137" y="3378200"/>
            <a:ext cx="2349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Hybrid BiLSTM+GRU Network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21627" y="3073400"/>
            <a:ext cx="546100" cy="50800"/>
          </a:xfrm>
          <a:custGeom>
            <a:avLst/>
            <a:gdLst/>
            <a:ahLst/>
            <a:cxnLst/>
            <a:rect l="l" t="t" r="r" b="b"/>
            <a:pathLst>
              <a:path w="546100" h="50800">
                <a:moveTo>
                  <a:pt x="0" y="0"/>
                </a:moveTo>
                <a:lnTo>
                  <a:pt x="546100" y="0"/>
                </a:lnTo>
                <a:lnTo>
                  <a:pt x="5461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76B8"/>
              </a:gs>
              <a:gs pos="100000">
                <a:srgbClr val="57AFFF"/>
              </a:gs>
            </a:gsLst>
            <a:lin ang="0" scaled="1"/>
          </a:gradFill>
        </p:spPr>
      </p:sp>
      <p:sp>
        <p:nvSpPr>
          <p:cNvPr id="12" name="Shape 9"/>
          <p:cNvSpPr/>
          <p:nvPr/>
        </p:nvSpPr>
        <p:spPr>
          <a:xfrm>
            <a:off x="7371028" y="24384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8100" y="0"/>
                </a:moveTo>
                <a:cubicBezTo>
                  <a:pt x="17026" y="0"/>
                  <a:pt x="0" y="17026"/>
                  <a:pt x="0" y="38100"/>
                </a:cubicBezTo>
                <a:cubicBezTo>
                  <a:pt x="0" y="59174"/>
                  <a:pt x="17026" y="76200"/>
                  <a:pt x="38100" y="76200"/>
                </a:cubicBezTo>
                <a:lnTo>
                  <a:pt x="38100" y="89297"/>
                </a:lnTo>
                <a:cubicBezTo>
                  <a:pt x="38100" y="139779"/>
                  <a:pt x="58222" y="188238"/>
                  <a:pt x="93940" y="223957"/>
                </a:cubicBezTo>
                <a:lnTo>
                  <a:pt x="174784" y="304800"/>
                </a:lnTo>
                <a:lnTo>
                  <a:pt x="93940" y="385643"/>
                </a:lnTo>
                <a:cubicBezTo>
                  <a:pt x="58222" y="421362"/>
                  <a:pt x="38100" y="469821"/>
                  <a:pt x="38100" y="520303"/>
                </a:cubicBezTo>
                <a:lnTo>
                  <a:pt x="38100" y="533400"/>
                </a:lnTo>
                <a:cubicBezTo>
                  <a:pt x="17026" y="533400"/>
                  <a:pt x="0" y="550426"/>
                  <a:pt x="0" y="571500"/>
                </a:cubicBezTo>
                <a:cubicBezTo>
                  <a:pt x="0" y="592574"/>
                  <a:pt x="17026" y="609600"/>
                  <a:pt x="38100" y="609600"/>
                </a:cubicBezTo>
                <a:lnTo>
                  <a:pt x="419100" y="609600"/>
                </a:lnTo>
                <a:cubicBezTo>
                  <a:pt x="440174" y="609600"/>
                  <a:pt x="457200" y="592574"/>
                  <a:pt x="457200" y="571500"/>
                </a:cubicBezTo>
                <a:cubicBezTo>
                  <a:pt x="457200" y="550426"/>
                  <a:pt x="440174" y="533400"/>
                  <a:pt x="419100" y="533400"/>
                </a:cubicBezTo>
                <a:lnTo>
                  <a:pt x="419100" y="520303"/>
                </a:lnTo>
                <a:cubicBezTo>
                  <a:pt x="419100" y="469821"/>
                  <a:pt x="398978" y="421362"/>
                  <a:pt x="363260" y="385643"/>
                </a:cubicBezTo>
                <a:lnTo>
                  <a:pt x="282416" y="304800"/>
                </a:lnTo>
                <a:lnTo>
                  <a:pt x="363260" y="223957"/>
                </a:lnTo>
                <a:cubicBezTo>
                  <a:pt x="398978" y="188238"/>
                  <a:pt x="419100" y="139779"/>
                  <a:pt x="419100" y="89297"/>
                </a:cubicBezTo>
                <a:lnTo>
                  <a:pt x="419100" y="76200"/>
                </a:lnTo>
                <a:cubicBezTo>
                  <a:pt x="440174" y="76200"/>
                  <a:pt x="457200" y="59174"/>
                  <a:pt x="457200" y="38100"/>
                </a:cubicBezTo>
                <a:cubicBezTo>
                  <a:pt x="457200" y="17026"/>
                  <a:pt x="440174" y="0"/>
                  <a:pt x="419100" y="0"/>
                </a:cubicBezTo>
                <a:lnTo>
                  <a:pt x="38100" y="0"/>
                </a:lnTo>
                <a:close/>
                <a:moveTo>
                  <a:pt x="114300" y="89297"/>
                </a:moveTo>
                <a:lnTo>
                  <a:pt x="114300" y="76200"/>
                </a:lnTo>
                <a:lnTo>
                  <a:pt x="342900" y="76200"/>
                </a:lnTo>
                <a:lnTo>
                  <a:pt x="342900" y="89297"/>
                </a:lnTo>
                <a:cubicBezTo>
                  <a:pt x="342900" y="111919"/>
                  <a:pt x="336233" y="133826"/>
                  <a:pt x="323850" y="152400"/>
                </a:cubicBezTo>
                <a:lnTo>
                  <a:pt x="133350" y="152400"/>
                </a:lnTo>
                <a:cubicBezTo>
                  <a:pt x="121087" y="133826"/>
                  <a:pt x="114300" y="111919"/>
                  <a:pt x="114300" y="89297"/>
                </a:cubicBezTo>
                <a:close/>
                <a:moveTo>
                  <a:pt x="133350" y="457200"/>
                </a:moveTo>
                <a:cubicBezTo>
                  <a:pt x="137517" y="450890"/>
                  <a:pt x="142399" y="444937"/>
                  <a:pt x="147757" y="439460"/>
                </a:cubicBezTo>
                <a:lnTo>
                  <a:pt x="228600" y="358616"/>
                </a:lnTo>
                <a:lnTo>
                  <a:pt x="309443" y="439460"/>
                </a:lnTo>
                <a:cubicBezTo>
                  <a:pt x="314920" y="444937"/>
                  <a:pt x="319683" y="450890"/>
                  <a:pt x="323969" y="457200"/>
                </a:cubicBezTo>
                <a:lnTo>
                  <a:pt x="133350" y="457200"/>
                </a:lnTo>
                <a:close/>
              </a:path>
            </a:pathLst>
          </a:custGeom>
          <a:solidFill>
            <a:srgbClr val="57AFFF"/>
          </a:solidFill>
        </p:spPr>
      </p:sp>
      <p:sp>
        <p:nvSpPr>
          <p:cNvPr id="13" name="Text 10"/>
          <p:cNvSpPr/>
          <p:nvPr/>
        </p:nvSpPr>
        <p:spPr>
          <a:xfrm>
            <a:off x="6716978" y="3149600"/>
            <a:ext cx="1765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RUL Prediction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85492" y="350520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Remaining Useful Life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829014" y="3073400"/>
            <a:ext cx="546100" cy="50800"/>
          </a:xfrm>
          <a:custGeom>
            <a:avLst/>
            <a:gdLst/>
            <a:ahLst/>
            <a:cxnLst/>
            <a:rect l="l" t="t" r="r" b="b"/>
            <a:pathLst>
              <a:path w="546100" h="50800">
                <a:moveTo>
                  <a:pt x="0" y="0"/>
                </a:moveTo>
                <a:lnTo>
                  <a:pt x="546100" y="0"/>
                </a:lnTo>
                <a:lnTo>
                  <a:pt x="5461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7AFFF"/>
              </a:gs>
              <a:gs pos="100000">
                <a:srgbClr val="34B1C9"/>
              </a:gs>
            </a:gsLst>
            <a:lin ang="0" scaled="1"/>
          </a:gradFill>
        </p:spPr>
      </p:sp>
      <p:sp>
        <p:nvSpPr>
          <p:cNvPr id="16" name="Shape 13"/>
          <p:cNvSpPr/>
          <p:nvPr/>
        </p:nvSpPr>
        <p:spPr>
          <a:xfrm>
            <a:off x="10340314" y="24384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66700" y="0"/>
                </a:moveTo>
                <a:cubicBezTo>
                  <a:pt x="245626" y="0"/>
                  <a:pt x="228600" y="17026"/>
                  <a:pt x="228600" y="38100"/>
                </a:cubicBezTo>
                <a:lnTo>
                  <a:pt x="228600" y="41910"/>
                </a:lnTo>
                <a:cubicBezTo>
                  <a:pt x="141684" y="59531"/>
                  <a:pt x="76200" y="136446"/>
                  <a:pt x="76200" y="228600"/>
                </a:cubicBezTo>
                <a:lnTo>
                  <a:pt x="76200" y="254437"/>
                </a:lnTo>
                <a:cubicBezTo>
                  <a:pt x="76200" y="311706"/>
                  <a:pt x="56674" y="367308"/>
                  <a:pt x="20955" y="412075"/>
                </a:cubicBezTo>
                <a:lnTo>
                  <a:pt x="9287" y="426601"/>
                </a:lnTo>
                <a:cubicBezTo>
                  <a:pt x="3215" y="434102"/>
                  <a:pt x="0" y="443389"/>
                  <a:pt x="0" y="453033"/>
                </a:cubicBezTo>
                <a:cubicBezTo>
                  <a:pt x="0" y="476369"/>
                  <a:pt x="18931" y="495300"/>
                  <a:pt x="42267" y="495300"/>
                </a:cubicBezTo>
                <a:lnTo>
                  <a:pt x="491014" y="495300"/>
                </a:lnTo>
                <a:cubicBezTo>
                  <a:pt x="514350" y="495300"/>
                  <a:pt x="533281" y="476369"/>
                  <a:pt x="533281" y="453033"/>
                </a:cubicBezTo>
                <a:cubicBezTo>
                  <a:pt x="533281" y="443389"/>
                  <a:pt x="530066" y="434102"/>
                  <a:pt x="523994" y="426601"/>
                </a:cubicBezTo>
                <a:lnTo>
                  <a:pt x="512326" y="412075"/>
                </a:lnTo>
                <a:cubicBezTo>
                  <a:pt x="476726" y="367308"/>
                  <a:pt x="457200" y="311706"/>
                  <a:pt x="457200" y="254437"/>
                </a:cubicBezTo>
                <a:lnTo>
                  <a:pt x="457200" y="228600"/>
                </a:lnTo>
                <a:cubicBezTo>
                  <a:pt x="457200" y="136446"/>
                  <a:pt x="391716" y="59531"/>
                  <a:pt x="304800" y="41910"/>
                </a:cubicBezTo>
                <a:lnTo>
                  <a:pt x="304800" y="38100"/>
                </a:lnTo>
                <a:cubicBezTo>
                  <a:pt x="304800" y="17026"/>
                  <a:pt x="287774" y="0"/>
                  <a:pt x="266700" y="0"/>
                </a:cubicBezTo>
                <a:close/>
                <a:moveTo>
                  <a:pt x="192881" y="552450"/>
                </a:moveTo>
                <a:cubicBezTo>
                  <a:pt x="201335" y="585311"/>
                  <a:pt x="231219" y="609600"/>
                  <a:pt x="266700" y="609600"/>
                </a:cubicBezTo>
                <a:cubicBezTo>
                  <a:pt x="302181" y="609600"/>
                  <a:pt x="332065" y="585311"/>
                  <a:pt x="340519" y="552450"/>
                </a:cubicBezTo>
                <a:lnTo>
                  <a:pt x="192881" y="552450"/>
                </a:lnTo>
                <a:close/>
              </a:path>
            </a:pathLst>
          </a:custGeom>
          <a:solidFill>
            <a:srgbClr val="34B1C9"/>
          </a:solidFill>
        </p:spPr>
      </p:sp>
      <p:sp>
        <p:nvSpPr>
          <p:cNvPr id="17" name="Text 14"/>
          <p:cNvSpPr/>
          <p:nvPr/>
        </p:nvSpPr>
        <p:spPr>
          <a:xfrm>
            <a:off x="9565349" y="3149600"/>
            <a:ext cx="208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Maintenance Alert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515078" y="3505200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Proactive Decision Making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4000" y="4292600"/>
            <a:ext cx="11684000" cy="1117600"/>
          </a:xfrm>
          <a:custGeom>
            <a:avLst/>
            <a:gdLst/>
            <a:ahLst/>
            <a:cxnLst/>
            <a:rect l="l" t="t" r="r" b="b"/>
            <a:pathLst>
              <a:path w="11684000" h="11176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1015999"/>
                </a:lnTo>
                <a:cubicBezTo>
                  <a:pt x="11684000" y="1072112"/>
                  <a:pt x="11638512" y="1117600"/>
                  <a:pt x="11582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196850" y="4292600"/>
            <a:ext cx="11798300" cy="11176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Build an AI system to predict RUL from complex sensor data, handling multiple fault types and conditions, to generate timely maintenance alerts and prevent critical failures.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Gaps in Existing Work &amp; Our Solutions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524000"/>
            <a:ext cx="5689600" cy="0"/>
          </a:xfrm>
          <a:prstGeom prst="line">
            <a:avLst/>
          </a:prstGeom>
          <a:noFill/>
          <a:ln w="25400">
            <a:solidFill>
              <a:srgbClr val="34B1C9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" y="1016000"/>
            <a:ext cx="5842000" cy="508000"/>
          </a:xfrm>
          <a:prstGeom prst="rect">
            <a:avLst/>
          </a:prstGeom>
          <a:noFill/>
        </p:spPr>
        <p:txBody>
          <a:bodyPr wrap="square" lIns="0" tIns="0" rIns="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Identified Gaps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1752600"/>
            <a:ext cx="5689600" cy="660400"/>
          </a:xfrm>
          <a:custGeom>
            <a:avLst/>
            <a:gdLst/>
            <a:ahLst/>
            <a:cxnLst/>
            <a:rect l="l" t="t" r="r" b="b"/>
            <a:pathLst>
              <a:path w="5689600" h="6604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558797"/>
                </a:lnTo>
                <a:cubicBezTo>
                  <a:pt x="5689600" y="614911"/>
                  <a:pt x="5644111" y="660400"/>
                  <a:pt x="5587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444500" y="195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8" name="Text 5"/>
          <p:cNvSpPr/>
          <p:nvPr/>
        </p:nvSpPr>
        <p:spPr>
          <a:xfrm>
            <a:off x="990600" y="1905000"/>
            <a:ext cx="3505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Lack of multi-condition generalization.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" y="2616200"/>
            <a:ext cx="5689600" cy="660400"/>
          </a:xfrm>
          <a:custGeom>
            <a:avLst/>
            <a:gdLst/>
            <a:ahLst/>
            <a:cxnLst/>
            <a:rect l="l" t="t" r="r" b="b"/>
            <a:pathLst>
              <a:path w="5689600" h="6604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558797"/>
                </a:lnTo>
                <a:cubicBezTo>
                  <a:pt x="5689600" y="614911"/>
                  <a:pt x="5644111" y="660400"/>
                  <a:pt x="5587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25450" y="2819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408" y="-14823"/>
                </a:moveTo>
                <a:cubicBezTo>
                  <a:pt x="18812" y="-20419"/>
                  <a:pt x="9763" y="-20419"/>
                  <a:pt x="4227" y="-14823"/>
                </a:cubicBezTo>
                <a:cubicBezTo>
                  <a:pt x="-1310" y="-9227"/>
                  <a:pt x="-1369" y="-179"/>
                  <a:pt x="4167" y="5417"/>
                </a:cubicBezTo>
                <a:lnTo>
                  <a:pt x="318492" y="319742"/>
                </a:lnTo>
                <a:cubicBezTo>
                  <a:pt x="324088" y="325338"/>
                  <a:pt x="333137" y="325338"/>
                  <a:pt x="338673" y="319742"/>
                </a:cubicBezTo>
                <a:cubicBezTo>
                  <a:pt x="344210" y="314146"/>
                  <a:pt x="344269" y="305098"/>
                  <a:pt x="338673" y="299561"/>
                </a:cubicBezTo>
                <a:lnTo>
                  <a:pt x="281285" y="242173"/>
                </a:lnTo>
                <a:cubicBezTo>
                  <a:pt x="282892" y="240744"/>
                  <a:pt x="284500" y="239316"/>
                  <a:pt x="286048" y="237887"/>
                </a:cubicBezTo>
                <a:cubicBezTo>
                  <a:pt x="313908" y="211991"/>
                  <a:pt x="332542" y="181094"/>
                  <a:pt x="341412" y="159841"/>
                </a:cubicBezTo>
                <a:cubicBezTo>
                  <a:pt x="343376" y="155138"/>
                  <a:pt x="343376" y="149900"/>
                  <a:pt x="341412" y="145197"/>
                </a:cubicBezTo>
                <a:cubicBezTo>
                  <a:pt x="332542" y="123944"/>
                  <a:pt x="313908" y="92988"/>
                  <a:pt x="286048" y="67151"/>
                </a:cubicBezTo>
                <a:cubicBezTo>
                  <a:pt x="258008" y="41136"/>
                  <a:pt x="219492" y="19169"/>
                  <a:pt x="171390" y="19169"/>
                </a:cubicBezTo>
                <a:cubicBezTo>
                  <a:pt x="137577" y="19169"/>
                  <a:pt x="108525" y="30004"/>
                  <a:pt x="84475" y="45482"/>
                </a:cubicBezTo>
                <a:lnTo>
                  <a:pt x="24408" y="-14823"/>
                </a:lnTo>
                <a:close/>
                <a:moveTo>
                  <a:pt x="121741" y="82570"/>
                </a:moveTo>
                <a:cubicBezTo>
                  <a:pt x="135731" y="72569"/>
                  <a:pt x="152936" y="66675"/>
                  <a:pt x="171450" y="66675"/>
                </a:cubicBezTo>
                <a:cubicBezTo>
                  <a:pt x="218777" y="66675"/>
                  <a:pt x="257175" y="105073"/>
                  <a:pt x="257175" y="152400"/>
                </a:cubicBezTo>
                <a:cubicBezTo>
                  <a:pt x="257175" y="170914"/>
                  <a:pt x="251281" y="188059"/>
                  <a:pt x="241280" y="202109"/>
                </a:cubicBezTo>
                <a:lnTo>
                  <a:pt x="220623" y="181451"/>
                </a:lnTo>
                <a:cubicBezTo>
                  <a:pt x="228183" y="168712"/>
                  <a:pt x="230743" y="153055"/>
                  <a:pt x="226635" y="137577"/>
                </a:cubicBezTo>
                <a:cubicBezTo>
                  <a:pt x="218480" y="107097"/>
                  <a:pt x="187107" y="88999"/>
                  <a:pt x="156627" y="97155"/>
                </a:cubicBezTo>
                <a:cubicBezTo>
                  <a:pt x="151507" y="98524"/>
                  <a:pt x="146685" y="100548"/>
                  <a:pt x="142339" y="103108"/>
                </a:cubicBezTo>
                <a:lnTo>
                  <a:pt x="121682" y="82451"/>
                </a:lnTo>
                <a:close/>
                <a:moveTo>
                  <a:pt x="193655" y="235208"/>
                </a:moveTo>
                <a:cubicBezTo>
                  <a:pt x="186571" y="237113"/>
                  <a:pt x="179130" y="238125"/>
                  <a:pt x="171450" y="238125"/>
                </a:cubicBezTo>
                <a:cubicBezTo>
                  <a:pt x="124123" y="238125"/>
                  <a:pt x="85725" y="199727"/>
                  <a:pt x="85725" y="152400"/>
                </a:cubicBezTo>
                <a:cubicBezTo>
                  <a:pt x="85725" y="144720"/>
                  <a:pt x="86737" y="137279"/>
                  <a:pt x="88642" y="130195"/>
                </a:cubicBezTo>
                <a:lnTo>
                  <a:pt x="41315" y="82867"/>
                </a:lnTo>
                <a:cubicBezTo>
                  <a:pt x="21908" y="104775"/>
                  <a:pt x="8573" y="127992"/>
                  <a:pt x="1488" y="145078"/>
                </a:cubicBezTo>
                <a:cubicBezTo>
                  <a:pt x="-476" y="149781"/>
                  <a:pt x="-476" y="155019"/>
                  <a:pt x="1488" y="159722"/>
                </a:cubicBezTo>
                <a:cubicBezTo>
                  <a:pt x="10358" y="180975"/>
                  <a:pt x="28992" y="211931"/>
                  <a:pt x="56852" y="237768"/>
                </a:cubicBezTo>
                <a:cubicBezTo>
                  <a:pt x="84892" y="263783"/>
                  <a:pt x="123408" y="285750"/>
                  <a:pt x="171510" y="285750"/>
                </a:cubicBezTo>
                <a:cubicBezTo>
                  <a:pt x="193715" y="285750"/>
                  <a:pt x="213896" y="281047"/>
                  <a:pt x="231934" y="273487"/>
                </a:cubicBezTo>
                <a:lnTo>
                  <a:pt x="193715" y="235268"/>
                </a:lnTo>
                <a:close/>
              </a:path>
            </a:pathLst>
          </a:custGeom>
          <a:solidFill>
            <a:srgbClr val="34B1C9"/>
          </a:solidFill>
        </p:spPr>
      </p:sp>
      <p:sp>
        <p:nvSpPr>
          <p:cNvPr id="11" name="Text 8"/>
          <p:cNvSpPr/>
          <p:nvPr/>
        </p:nvSpPr>
        <p:spPr>
          <a:xfrm>
            <a:off x="990600" y="2768600"/>
            <a:ext cx="280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Limited sensor interpretability.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3479800"/>
            <a:ext cx="5689600" cy="660400"/>
          </a:xfrm>
          <a:custGeom>
            <a:avLst/>
            <a:gdLst/>
            <a:ahLst/>
            <a:cxnLst/>
            <a:rect l="l" t="t" r="r" b="b"/>
            <a:pathLst>
              <a:path w="5689600" h="6604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558797"/>
                </a:lnTo>
                <a:cubicBezTo>
                  <a:pt x="5689600" y="614911"/>
                  <a:pt x="5644111" y="660400"/>
                  <a:pt x="5587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25450" y="3683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408" y="-14823"/>
                </a:moveTo>
                <a:cubicBezTo>
                  <a:pt x="18812" y="-20419"/>
                  <a:pt x="9763" y="-20419"/>
                  <a:pt x="4227" y="-14823"/>
                </a:cubicBezTo>
                <a:cubicBezTo>
                  <a:pt x="-1310" y="-9227"/>
                  <a:pt x="-1369" y="-179"/>
                  <a:pt x="4167" y="5417"/>
                </a:cubicBezTo>
                <a:lnTo>
                  <a:pt x="318492" y="319742"/>
                </a:lnTo>
                <a:cubicBezTo>
                  <a:pt x="324088" y="325338"/>
                  <a:pt x="333137" y="325338"/>
                  <a:pt x="338673" y="319742"/>
                </a:cubicBezTo>
                <a:cubicBezTo>
                  <a:pt x="344210" y="314146"/>
                  <a:pt x="344269" y="305098"/>
                  <a:pt x="338673" y="299561"/>
                </a:cubicBezTo>
                <a:lnTo>
                  <a:pt x="286583" y="247471"/>
                </a:lnTo>
                <a:cubicBezTo>
                  <a:pt x="296823" y="246043"/>
                  <a:pt x="304740" y="237173"/>
                  <a:pt x="304740" y="226516"/>
                </a:cubicBezTo>
                <a:cubicBezTo>
                  <a:pt x="304740" y="221694"/>
                  <a:pt x="303133" y="217051"/>
                  <a:pt x="300097" y="213300"/>
                </a:cubicBezTo>
                <a:lnTo>
                  <a:pt x="294263" y="206038"/>
                </a:lnTo>
                <a:cubicBezTo>
                  <a:pt x="276463" y="183654"/>
                  <a:pt x="266700" y="155853"/>
                  <a:pt x="266700" y="127218"/>
                </a:cubicBezTo>
                <a:lnTo>
                  <a:pt x="266700" y="114300"/>
                </a:lnTo>
                <a:cubicBezTo>
                  <a:pt x="266700" y="68223"/>
                  <a:pt x="233958" y="29766"/>
                  <a:pt x="190500" y="20955"/>
                </a:cubicBezTo>
                <a:lnTo>
                  <a:pt x="190500" y="19050"/>
                </a:lnTo>
                <a:cubicBezTo>
                  <a:pt x="190500" y="8513"/>
                  <a:pt x="181987" y="0"/>
                  <a:pt x="171450" y="0"/>
                </a:cubicBezTo>
                <a:cubicBezTo>
                  <a:pt x="160913" y="0"/>
                  <a:pt x="152400" y="8513"/>
                  <a:pt x="152400" y="19050"/>
                </a:cubicBezTo>
                <a:lnTo>
                  <a:pt x="152400" y="20955"/>
                </a:lnTo>
                <a:cubicBezTo>
                  <a:pt x="129421" y="25598"/>
                  <a:pt x="109418" y="38576"/>
                  <a:pt x="95726" y="56495"/>
                </a:cubicBezTo>
                <a:lnTo>
                  <a:pt x="24408" y="-14823"/>
                </a:lnTo>
                <a:close/>
                <a:moveTo>
                  <a:pt x="76200" y="127159"/>
                </a:moveTo>
                <a:cubicBezTo>
                  <a:pt x="76200" y="155793"/>
                  <a:pt x="66437" y="183594"/>
                  <a:pt x="48578" y="205978"/>
                </a:cubicBezTo>
                <a:lnTo>
                  <a:pt x="42743" y="213241"/>
                </a:lnTo>
                <a:cubicBezTo>
                  <a:pt x="39767" y="216991"/>
                  <a:pt x="38100" y="221635"/>
                  <a:pt x="38100" y="226457"/>
                </a:cubicBezTo>
                <a:cubicBezTo>
                  <a:pt x="38100" y="238125"/>
                  <a:pt x="47565" y="247590"/>
                  <a:pt x="59234" y="247590"/>
                </a:cubicBezTo>
                <a:lnTo>
                  <a:pt x="199311" y="247590"/>
                </a:lnTo>
                <a:lnTo>
                  <a:pt x="76140" y="124420"/>
                </a:lnTo>
                <a:lnTo>
                  <a:pt x="76140" y="127099"/>
                </a:lnTo>
                <a:close/>
                <a:moveTo>
                  <a:pt x="171450" y="304800"/>
                </a:moveTo>
                <a:cubicBezTo>
                  <a:pt x="189190" y="304800"/>
                  <a:pt x="204133" y="292656"/>
                  <a:pt x="208359" y="276225"/>
                </a:cubicBezTo>
                <a:lnTo>
                  <a:pt x="134541" y="276225"/>
                </a:lnTo>
                <a:cubicBezTo>
                  <a:pt x="138767" y="292656"/>
                  <a:pt x="153710" y="304800"/>
                  <a:pt x="171450" y="304800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14" name="Text 11"/>
          <p:cNvSpPr/>
          <p:nvPr/>
        </p:nvSpPr>
        <p:spPr>
          <a:xfrm>
            <a:off x="990600" y="3632200"/>
            <a:ext cx="278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 automatic alerting system.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48400" y="1524000"/>
            <a:ext cx="5689600" cy="0"/>
          </a:xfrm>
          <a:prstGeom prst="line">
            <a:avLst/>
          </a:prstGeom>
          <a:noFill/>
          <a:ln w="25400">
            <a:solidFill>
              <a:srgbClr val="57AFFF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6172200" y="1016000"/>
            <a:ext cx="5842000" cy="508000"/>
          </a:xfrm>
          <a:prstGeom prst="rect">
            <a:avLst/>
          </a:prstGeom>
          <a:noFill/>
        </p:spPr>
        <p:txBody>
          <a:bodyPr wrap="square" lIns="0" tIns="0" rIns="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Our Solutions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48400" y="17526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57AFFF">
              <a:alpha val="2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6438900" y="195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3159" y="118884"/>
                </a:moveTo>
                <a:lnTo>
                  <a:pt x="51554" y="137279"/>
                </a:lnTo>
                <a:cubicBezTo>
                  <a:pt x="55126" y="140851"/>
                  <a:pt x="59948" y="142875"/>
                  <a:pt x="65008" y="142875"/>
                </a:cubicBezTo>
                <a:lnTo>
                  <a:pt x="77807" y="142875"/>
                </a:lnTo>
                <a:cubicBezTo>
                  <a:pt x="82867" y="142875"/>
                  <a:pt x="87690" y="144899"/>
                  <a:pt x="91261" y="148471"/>
                </a:cubicBezTo>
                <a:lnTo>
                  <a:pt x="108704" y="165914"/>
                </a:lnTo>
                <a:cubicBezTo>
                  <a:pt x="112276" y="169485"/>
                  <a:pt x="114300" y="174308"/>
                  <a:pt x="114300" y="179368"/>
                </a:cubicBezTo>
                <a:lnTo>
                  <a:pt x="114300" y="201692"/>
                </a:lnTo>
                <a:cubicBezTo>
                  <a:pt x="114300" y="206752"/>
                  <a:pt x="116324" y="211574"/>
                  <a:pt x="119896" y="215146"/>
                </a:cubicBezTo>
                <a:lnTo>
                  <a:pt x="127814" y="223064"/>
                </a:lnTo>
                <a:cubicBezTo>
                  <a:pt x="131385" y="226635"/>
                  <a:pt x="133410" y="231458"/>
                  <a:pt x="133410" y="236518"/>
                </a:cubicBezTo>
                <a:lnTo>
                  <a:pt x="133410" y="247650"/>
                </a:lnTo>
                <a:cubicBezTo>
                  <a:pt x="133410" y="258187"/>
                  <a:pt x="141923" y="266700"/>
                  <a:pt x="152460" y="266700"/>
                </a:cubicBezTo>
                <a:cubicBezTo>
                  <a:pt x="162997" y="266700"/>
                  <a:pt x="171510" y="258187"/>
                  <a:pt x="171510" y="247650"/>
                </a:cubicBezTo>
                <a:lnTo>
                  <a:pt x="171510" y="246043"/>
                </a:lnTo>
                <a:cubicBezTo>
                  <a:pt x="171510" y="240983"/>
                  <a:pt x="173534" y="236160"/>
                  <a:pt x="177105" y="232589"/>
                </a:cubicBezTo>
                <a:lnTo>
                  <a:pt x="204073" y="205621"/>
                </a:lnTo>
                <a:cubicBezTo>
                  <a:pt x="207645" y="202049"/>
                  <a:pt x="209669" y="197227"/>
                  <a:pt x="209669" y="192167"/>
                </a:cubicBezTo>
                <a:lnTo>
                  <a:pt x="209669" y="171510"/>
                </a:lnTo>
                <a:cubicBezTo>
                  <a:pt x="209669" y="160973"/>
                  <a:pt x="201156" y="152460"/>
                  <a:pt x="190619" y="152460"/>
                </a:cubicBezTo>
                <a:lnTo>
                  <a:pt x="141387" y="152460"/>
                </a:lnTo>
                <a:cubicBezTo>
                  <a:pt x="136327" y="152460"/>
                  <a:pt x="131505" y="150435"/>
                  <a:pt x="127933" y="146864"/>
                </a:cubicBezTo>
                <a:lnTo>
                  <a:pt x="118408" y="137339"/>
                </a:lnTo>
                <a:cubicBezTo>
                  <a:pt x="115907" y="134838"/>
                  <a:pt x="114479" y="131385"/>
                  <a:pt x="114479" y="127814"/>
                </a:cubicBezTo>
                <a:cubicBezTo>
                  <a:pt x="114479" y="120372"/>
                  <a:pt x="120491" y="114360"/>
                  <a:pt x="127933" y="114360"/>
                </a:cubicBezTo>
                <a:lnTo>
                  <a:pt x="148590" y="114360"/>
                </a:lnTo>
                <a:cubicBezTo>
                  <a:pt x="156031" y="114360"/>
                  <a:pt x="162044" y="108347"/>
                  <a:pt x="162044" y="100905"/>
                </a:cubicBezTo>
                <a:cubicBezTo>
                  <a:pt x="162044" y="97334"/>
                  <a:pt x="160615" y="93881"/>
                  <a:pt x="158115" y="91380"/>
                </a:cubicBezTo>
                <a:lnTo>
                  <a:pt x="146387" y="79653"/>
                </a:lnTo>
                <a:cubicBezTo>
                  <a:pt x="144066" y="77391"/>
                  <a:pt x="142875" y="74474"/>
                  <a:pt x="142875" y="71438"/>
                </a:cubicBezTo>
                <a:cubicBezTo>
                  <a:pt x="142875" y="68401"/>
                  <a:pt x="144066" y="65484"/>
                  <a:pt x="146268" y="63282"/>
                </a:cubicBezTo>
                <a:lnTo>
                  <a:pt x="156567" y="52983"/>
                </a:lnTo>
                <a:cubicBezTo>
                  <a:pt x="160020" y="49530"/>
                  <a:pt x="161985" y="44827"/>
                  <a:pt x="161985" y="39945"/>
                </a:cubicBezTo>
                <a:cubicBezTo>
                  <a:pt x="161985" y="35659"/>
                  <a:pt x="160556" y="31790"/>
                  <a:pt x="158175" y="28694"/>
                </a:cubicBezTo>
                <a:cubicBezTo>
                  <a:pt x="156270" y="28635"/>
                  <a:pt x="154365" y="28575"/>
                  <a:pt x="152460" y="28575"/>
                </a:cubicBezTo>
                <a:cubicBezTo>
                  <a:pt x="95667" y="28575"/>
                  <a:pt x="47863" y="66794"/>
                  <a:pt x="33218" y="118884"/>
                </a:cubicBezTo>
                <a:close/>
                <a:moveTo>
                  <a:pt x="276225" y="152400"/>
                </a:moveTo>
                <a:cubicBezTo>
                  <a:pt x="276225" y="131802"/>
                  <a:pt x="271224" y="112395"/>
                  <a:pt x="262295" y="95369"/>
                </a:cubicBezTo>
                <a:cubicBezTo>
                  <a:pt x="258485" y="95905"/>
                  <a:pt x="254734" y="97691"/>
                  <a:pt x="251639" y="100786"/>
                </a:cubicBezTo>
                <a:lnTo>
                  <a:pt x="243661" y="108764"/>
                </a:lnTo>
                <a:cubicBezTo>
                  <a:pt x="240090" y="112335"/>
                  <a:pt x="238065" y="117157"/>
                  <a:pt x="238065" y="122218"/>
                </a:cubicBezTo>
                <a:lnTo>
                  <a:pt x="238065" y="142875"/>
                </a:lnTo>
                <a:cubicBezTo>
                  <a:pt x="238065" y="153412"/>
                  <a:pt x="246578" y="161925"/>
                  <a:pt x="257115" y="161925"/>
                </a:cubicBezTo>
                <a:lnTo>
                  <a:pt x="271463" y="161925"/>
                </a:lnTo>
                <a:cubicBezTo>
                  <a:pt x="272951" y="161925"/>
                  <a:pt x="274439" y="161746"/>
                  <a:pt x="275808" y="161449"/>
                </a:cubicBezTo>
                <a:cubicBezTo>
                  <a:pt x="276046" y="158472"/>
                  <a:pt x="276106" y="155436"/>
                  <a:pt x="276106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</a:path>
            </a:pathLst>
          </a:custGeom>
          <a:solidFill>
            <a:srgbClr val="57AFFF"/>
          </a:solidFill>
        </p:spPr>
      </p:sp>
      <p:sp>
        <p:nvSpPr>
          <p:cNvPr id="19" name="Text 16"/>
          <p:cNvSpPr/>
          <p:nvPr/>
        </p:nvSpPr>
        <p:spPr>
          <a:xfrm>
            <a:off x="6985000" y="1905000"/>
            <a:ext cx="4902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Training on combined datasets for universal performance.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48400" y="2870200"/>
            <a:ext cx="5689600" cy="660400"/>
          </a:xfrm>
          <a:custGeom>
            <a:avLst/>
            <a:gdLst/>
            <a:ahLst/>
            <a:cxnLst/>
            <a:rect l="l" t="t" r="r" b="b"/>
            <a:pathLst>
              <a:path w="5689600" h="6604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558797"/>
                </a:lnTo>
                <a:cubicBezTo>
                  <a:pt x="5689600" y="614911"/>
                  <a:pt x="5644111" y="660400"/>
                  <a:pt x="5587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7AFFF">
              <a:alpha val="20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64389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66675"/>
                </a:moveTo>
                <a:cubicBezTo>
                  <a:pt x="115907" y="66675"/>
                  <a:pt x="109537" y="73045"/>
                  <a:pt x="109537" y="80962"/>
                </a:cubicBezTo>
                <a:lnTo>
                  <a:pt x="109537" y="109537"/>
                </a:lnTo>
                <a:lnTo>
                  <a:pt x="80962" y="109537"/>
                </a:lnTo>
                <a:cubicBezTo>
                  <a:pt x="73045" y="109537"/>
                  <a:pt x="66675" y="115907"/>
                  <a:pt x="66675" y="123825"/>
                </a:cubicBezTo>
                <a:cubicBezTo>
                  <a:pt x="66675" y="131743"/>
                  <a:pt x="73045" y="138113"/>
                  <a:pt x="80962" y="138113"/>
                </a:cubicBezTo>
                <a:lnTo>
                  <a:pt x="109537" y="138113"/>
                </a:ln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138113"/>
                </a:lnTo>
                <a:lnTo>
                  <a:pt x="166688" y="138113"/>
                </a:lnTo>
                <a:cubicBezTo>
                  <a:pt x="174605" y="138113"/>
                  <a:pt x="180975" y="131743"/>
                  <a:pt x="180975" y="123825"/>
                </a:cubicBezTo>
                <a:cubicBezTo>
                  <a:pt x="180975" y="115907"/>
                  <a:pt x="174605" y="109537"/>
                  <a:pt x="166688" y="109537"/>
                </a:cubicBezTo>
                <a:lnTo>
                  <a:pt x="138113" y="109537"/>
                </a:lnTo>
                <a:lnTo>
                  <a:pt x="138113" y="80962"/>
                </a:lnTo>
                <a:cubicBezTo>
                  <a:pt x="138113" y="73045"/>
                  <a:pt x="131743" y="66675"/>
                  <a:pt x="123825" y="66675"/>
                </a:cubicBezTo>
                <a:close/>
              </a:path>
            </a:pathLst>
          </a:custGeom>
          <a:solidFill>
            <a:srgbClr val="57AFFF"/>
          </a:solidFill>
        </p:spPr>
      </p:sp>
      <p:sp>
        <p:nvSpPr>
          <p:cNvPr id="22" name="Text 19"/>
          <p:cNvSpPr/>
          <p:nvPr/>
        </p:nvSpPr>
        <p:spPr>
          <a:xfrm>
            <a:off x="6985000" y="30226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In-depth sensor correlation analysis for insights.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48400" y="3733800"/>
            <a:ext cx="5689600" cy="660400"/>
          </a:xfrm>
          <a:custGeom>
            <a:avLst/>
            <a:gdLst/>
            <a:ahLst/>
            <a:cxnLst/>
            <a:rect l="l" t="t" r="r" b="b"/>
            <a:pathLst>
              <a:path w="5689600" h="6604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558797"/>
                </a:lnTo>
                <a:cubicBezTo>
                  <a:pt x="5689600" y="614911"/>
                  <a:pt x="5644111" y="660400"/>
                  <a:pt x="5587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7AFFF">
              <a:alpha val="2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6457950" y="3937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0"/>
                </a:moveTo>
                <a:cubicBezTo>
                  <a:pt x="122813" y="0"/>
                  <a:pt x="114300" y="8513"/>
                  <a:pt x="114300" y="19050"/>
                </a:cubicBezTo>
                <a:lnTo>
                  <a:pt x="114300" y="20955"/>
                </a:lnTo>
                <a:cubicBezTo>
                  <a:pt x="70842" y="29766"/>
                  <a:pt x="38100" y="68223"/>
                  <a:pt x="38100" y="114300"/>
                </a:cubicBezTo>
                <a:lnTo>
                  <a:pt x="38100" y="127218"/>
                </a:lnTo>
                <a:cubicBezTo>
                  <a:pt x="38100" y="155853"/>
                  <a:pt x="28337" y="183654"/>
                  <a:pt x="10478" y="206038"/>
                </a:cubicBezTo>
                <a:lnTo>
                  <a:pt x="4643" y="213300"/>
                </a:lnTo>
                <a:cubicBezTo>
                  <a:pt x="1607" y="217051"/>
                  <a:pt x="0" y="221694"/>
                  <a:pt x="0" y="226516"/>
                </a:cubicBezTo>
                <a:cubicBezTo>
                  <a:pt x="0" y="238185"/>
                  <a:pt x="9465" y="247650"/>
                  <a:pt x="21134" y="247650"/>
                </a:cubicBezTo>
                <a:lnTo>
                  <a:pt x="245507" y="247650"/>
                </a:lnTo>
                <a:cubicBezTo>
                  <a:pt x="257175" y="247650"/>
                  <a:pt x="266640" y="238185"/>
                  <a:pt x="266640" y="226516"/>
                </a:cubicBezTo>
                <a:cubicBezTo>
                  <a:pt x="266640" y="221694"/>
                  <a:pt x="265033" y="217051"/>
                  <a:pt x="261997" y="213300"/>
                </a:cubicBezTo>
                <a:lnTo>
                  <a:pt x="256163" y="206038"/>
                </a:lnTo>
                <a:cubicBezTo>
                  <a:pt x="238363" y="183654"/>
                  <a:pt x="228600" y="155853"/>
                  <a:pt x="228600" y="127218"/>
                </a:cubicBezTo>
                <a:lnTo>
                  <a:pt x="228600" y="114300"/>
                </a:lnTo>
                <a:cubicBezTo>
                  <a:pt x="228600" y="68223"/>
                  <a:pt x="195858" y="29766"/>
                  <a:pt x="152400" y="20955"/>
                </a:cubicBezTo>
                <a:lnTo>
                  <a:pt x="152400" y="19050"/>
                </a:lnTo>
                <a:cubicBezTo>
                  <a:pt x="152400" y="8513"/>
                  <a:pt x="143887" y="0"/>
                  <a:pt x="133350" y="0"/>
                </a:cubicBezTo>
                <a:close/>
                <a:moveTo>
                  <a:pt x="96441" y="276225"/>
                </a:moveTo>
                <a:cubicBezTo>
                  <a:pt x="100667" y="292656"/>
                  <a:pt x="115610" y="304800"/>
                  <a:pt x="133350" y="304800"/>
                </a:cubicBezTo>
                <a:cubicBezTo>
                  <a:pt x="151090" y="304800"/>
                  <a:pt x="166033" y="292656"/>
                  <a:pt x="170259" y="276225"/>
                </a:cubicBezTo>
                <a:lnTo>
                  <a:pt x="96441" y="276225"/>
                </a:lnTo>
                <a:close/>
              </a:path>
            </a:pathLst>
          </a:custGeom>
          <a:solidFill>
            <a:srgbClr val="57AFFF"/>
          </a:solidFill>
        </p:spPr>
      </p:sp>
      <p:sp>
        <p:nvSpPr>
          <p:cNvPr id="25" name="Text 22"/>
          <p:cNvSpPr/>
          <p:nvPr/>
        </p:nvSpPr>
        <p:spPr>
          <a:xfrm>
            <a:off x="6985000" y="3886200"/>
            <a:ext cx="3492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Integrated risk-based alerting 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Methodology &amp; Dataset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311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Proposed AI Pipeline Methodology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89000" y="3175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5" name="Shape 2"/>
          <p:cNvSpPr/>
          <p:nvPr/>
        </p:nvSpPr>
        <p:spPr>
          <a:xfrm>
            <a:off x="1233488" y="3492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6" name="Text 3"/>
          <p:cNvSpPr/>
          <p:nvPr/>
        </p:nvSpPr>
        <p:spPr>
          <a:xfrm>
            <a:off x="740040" y="4292600"/>
            <a:ext cx="130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68600" y="3175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8" name="Shape 5"/>
          <p:cNvSpPr/>
          <p:nvPr/>
        </p:nvSpPr>
        <p:spPr>
          <a:xfrm>
            <a:off x="3041650" y="3492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9" name="Text 6"/>
          <p:cNvSpPr/>
          <p:nvPr/>
        </p:nvSpPr>
        <p:spPr>
          <a:xfrm>
            <a:off x="2372519" y="4292600"/>
            <a:ext cx="1803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48200" y="3175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3A76B8"/>
          </a:solidFill>
        </p:spPr>
      </p:sp>
      <p:sp>
        <p:nvSpPr>
          <p:cNvPr id="11" name="Shape 8"/>
          <p:cNvSpPr/>
          <p:nvPr/>
        </p:nvSpPr>
        <p:spPr>
          <a:xfrm>
            <a:off x="4968875" y="349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71438"/>
                </a:moveTo>
                <a:cubicBezTo>
                  <a:pt x="0" y="58266"/>
                  <a:pt x="10641" y="47625"/>
                  <a:pt x="23812" y="47625"/>
                </a:cubicBezTo>
                <a:lnTo>
                  <a:pt x="309563" y="47625"/>
                </a:lnTo>
                <a:cubicBezTo>
                  <a:pt x="322734" y="47625"/>
                  <a:pt x="333375" y="58266"/>
                  <a:pt x="333375" y="71438"/>
                </a:cubicBezTo>
                <a:cubicBezTo>
                  <a:pt x="333375" y="84609"/>
                  <a:pt x="322734" y="95250"/>
                  <a:pt x="309563" y="95250"/>
                </a:cubicBezTo>
                <a:lnTo>
                  <a:pt x="23812" y="95250"/>
                </a:lnTo>
                <a:cubicBezTo>
                  <a:pt x="10641" y="95250"/>
                  <a:pt x="0" y="84609"/>
                  <a:pt x="0" y="71438"/>
                </a:cubicBezTo>
                <a:close/>
                <a:moveTo>
                  <a:pt x="47625" y="190500"/>
                </a:moveTo>
                <a:cubicBezTo>
                  <a:pt x="47625" y="177329"/>
                  <a:pt x="58266" y="166688"/>
                  <a:pt x="71438" y="166688"/>
                </a:cubicBez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71438" y="214313"/>
                </a:lnTo>
                <a:cubicBezTo>
                  <a:pt x="58266" y="214313"/>
                  <a:pt x="47625" y="203671"/>
                  <a:pt x="47625" y="190500"/>
                </a:cubicBezTo>
                <a:close/>
                <a:moveTo>
                  <a:pt x="333375" y="309563"/>
                </a:moveTo>
                <a:cubicBezTo>
                  <a:pt x="333375" y="322734"/>
                  <a:pt x="322734" y="333375"/>
                  <a:pt x="309563" y="333375"/>
                </a:cubicBezTo>
                <a:lnTo>
                  <a:pt x="23812" y="333375"/>
                </a:lnTo>
                <a:cubicBezTo>
                  <a:pt x="10641" y="333375"/>
                  <a:pt x="0" y="322734"/>
                  <a:pt x="0" y="309563"/>
                </a:cubicBezTo>
                <a:cubicBezTo>
                  <a:pt x="0" y="296391"/>
                  <a:pt x="10641" y="285750"/>
                  <a:pt x="23812" y="285750"/>
                </a:cubicBezTo>
                <a:lnTo>
                  <a:pt x="309563" y="285750"/>
                </a:lnTo>
                <a:cubicBezTo>
                  <a:pt x="322734" y="285750"/>
                  <a:pt x="333375" y="296391"/>
                  <a:pt x="333375" y="309563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12" name="Text 9"/>
          <p:cNvSpPr/>
          <p:nvPr/>
        </p:nvSpPr>
        <p:spPr>
          <a:xfrm>
            <a:off x="4306358" y="42926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Sequence Creation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27800" y="3175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14" name="Shape 11"/>
          <p:cNvSpPr/>
          <p:nvPr/>
        </p:nvSpPr>
        <p:spPr>
          <a:xfrm>
            <a:off x="6848475" y="349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15" name="Text 12"/>
          <p:cNvSpPr/>
          <p:nvPr/>
        </p:nvSpPr>
        <p:spPr>
          <a:xfrm>
            <a:off x="6428184" y="42926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Hybrid Model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07400" y="3175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57AFFF"/>
          </a:solidFill>
        </p:spPr>
      </p:sp>
      <p:sp>
        <p:nvSpPr>
          <p:cNvPr id="17" name="Shape 14"/>
          <p:cNvSpPr/>
          <p:nvPr/>
        </p:nvSpPr>
        <p:spPr>
          <a:xfrm>
            <a:off x="8728075" y="349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36984" y="23812"/>
                  <a:pt x="47625" y="34454"/>
                  <a:pt x="47625" y="47625"/>
                </a:cubicBezTo>
                <a:lnTo>
                  <a:pt x="47625" y="297656"/>
                </a:lnTo>
                <a:cubicBezTo>
                  <a:pt x="47625" y="304205"/>
                  <a:pt x="52983" y="309563"/>
                  <a:pt x="59531" y="309563"/>
                </a:cubicBezTo>
                <a:lnTo>
                  <a:pt x="357188" y="309563"/>
                </a:lnTo>
                <a:cubicBezTo>
                  <a:pt x="370359" y="309563"/>
                  <a:pt x="381000" y="320204"/>
                  <a:pt x="381000" y="333375"/>
                </a:cubicBezTo>
                <a:cubicBezTo>
                  <a:pt x="381000" y="346546"/>
                  <a:pt x="370359" y="357188"/>
                  <a:pt x="357188" y="357188"/>
                </a:cubicBezTo>
                <a:lnTo>
                  <a:pt x="59531" y="357188"/>
                </a:lnTo>
                <a:cubicBezTo>
                  <a:pt x="26640" y="357188"/>
                  <a:pt x="0" y="330547"/>
                  <a:pt x="0" y="297656"/>
                </a:cubicBezTo>
                <a:lnTo>
                  <a:pt x="0" y="47625"/>
                </a:lnTo>
                <a:cubicBezTo>
                  <a:pt x="0" y="34454"/>
                  <a:pt x="10641" y="23812"/>
                  <a:pt x="23812" y="23812"/>
                </a:cubicBezTo>
                <a:close/>
                <a:moveTo>
                  <a:pt x="95250" y="71438"/>
                </a:moveTo>
                <a:cubicBezTo>
                  <a:pt x="95250" y="58266"/>
                  <a:pt x="105891" y="47625"/>
                  <a:pt x="119063" y="47625"/>
                </a:cubicBezTo>
                <a:lnTo>
                  <a:pt x="261938" y="47625"/>
                </a:lnTo>
                <a:cubicBezTo>
                  <a:pt x="275109" y="47625"/>
                  <a:pt x="285750" y="58266"/>
                  <a:pt x="285750" y="71438"/>
                </a:cubicBezTo>
                <a:cubicBezTo>
                  <a:pt x="285750" y="84609"/>
                  <a:pt x="275109" y="95250"/>
                  <a:pt x="261938" y="95250"/>
                </a:cubicBezTo>
                <a:lnTo>
                  <a:pt x="119063" y="95250"/>
                </a:lnTo>
                <a:cubicBezTo>
                  <a:pt x="105891" y="95250"/>
                  <a:pt x="95250" y="84609"/>
                  <a:pt x="95250" y="71438"/>
                </a:cubicBezTo>
                <a:close/>
                <a:moveTo>
                  <a:pt x="119063" y="130969"/>
                </a:moveTo>
                <a:lnTo>
                  <a:pt x="214313" y="130969"/>
                </a:lnTo>
                <a:cubicBezTo>
                  <a:pt x="227484" y="130969"/>
                  <a:pt x="238125" y="141610"/>
                  <a:pt x="238125" y="154781"/>
                </a:cubicBezTo>
                <a:cubicBezTo>
                  <a:pt x="238125" y="167953"/>
                  <a:pt x="227484" y="178594"/>
                  <a:pt x="214313" y="178594"/>
                </a:cubicBezTo>
                <a:lnTo>
                  <a:pt x="119063" y="178594"/>
                </a:lnTo>
                <a:cubicBezTo>
                  <a:pt x="105891" y="178594"/>
                  <a:pt x="95250" y="167953"/>
                  <a:pt x="95250" y="154781"/>
                </a:cubicBezTo>
                <a:cubicBezTo>
                  <a:pt x="95250" y="141610"/>
                  <a:pt x="105891" y="130969"/>
                  <a:pt x="119063" y="130969"/>
                </a:cubicBezTo>
                <a:close/>
                <a:moveTo>
                  <a:pt x="119063" y="214313"/>
                </a:moveTo>
                <a:lnTo>
                  <a:pt x="309563" y="214313"/>
                </a:lnTo>
                <a:cubicBezTo>
                  <a:pt x="322734" y="214313"/>
                  <a:pt x="333375" y="224954"/>
                  <a:pt x="333375" y="238125"/>
                </a:cubicBezTo>
                <a:cubicBezTo>
                  <a:pt x="333375" y="251296"/>
                  <a:pt x="322734" y="261938"/>
                  <a:pt x="309563" y="261938"/>
                </a:cubicBezTo>
                <a:lnTo>
                  <a:pt x="119063" y="261938"/>
                </a:lnTo>
                <a:cubicBezTo>
                  <a:pt x="105891" y="261938"/>
                  <a:pt x="95250" y="251296"/>
                  <a:pt x="95250" y="238125"/>
                </a:cubicBezTo>
                <a:cubicBezTo>
                  <a:pt x="95250" y="224954"/>
                  <a:pt x="105891" y="214313"/>
                  <a:pt x="119063" y="214313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18" name="Text 15"/>
          <p:cNvSpPr/>
          <p:nvPr/>
        </p:nvSpPr>
        <p:spPr>
          <a:xfrm>
            <a:off x="8421291" y="4292600"/>
            <a:ext cx="990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287000" y="3175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57AFFF"/>
          </a:solidFill>
        </p:spPr>
      </p:sp>
      <p:sp>
        <p:nvSpPr>
          <p:cNvPr id="20" name="Shape 17"/>
          <p:cNvSpPr/>
          <p:nvPr/>
        </p:nvSpPr>
        <p:spPr>
          <a:xfrm>
            <a:off x="10631488" y="3492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0"/>
                </a:moveTo>
                <a:cubicBezTo>
                  <a:pt x="153516" y="0"/>
                  <a:pt x="142875" y="10641"/>
                  <a:pt x="142875" y="23812"/>
                </a:cubicBezTo>
                <a:lnTo>
                  <a:pt x="142875" y="26194"/>
                </a:lnTo>
                <a:cubicBezTo>
                  <a:pt x="88553" y="37207"/>
                  <a:pt x="47625" y="85279"/>
                  <a:pt x="47625" y="142875"/>
                </a:cubicBezTo>
                <a:lnTo>
                  <a:pt x="47625" y="159023"/>
                </a:lnTo>
                <a:cubicBezTo>
                  <a:pt x="47625" y="194816"/>
                  <a:pt x="35421" y="229567"/>
                  <a:pt x="13097" y="257547"/>
                </a:cubicBezTo>
                <a:lnTo>
                  <a:pt x="5804" y="266626"/>
                </a:lnTo>
                <a:cubicBezTo>
                  <a:pt x="2009" y="271314"/>
                  <a:pt x="0" y="277118"/>
                  <a:pt x="0" y="283146"/>
                </a:cubicBezTo>
                <a:cubicBezTo>
                  <a:pt x="0" y="297731"/>
                  <a:pt x="11832" y="309563"/>
                  <a:pt x="26417" y="309563"/>
                </a:cubicBezTo>
                <a:lnTo>
                  <a:pt x="306884" y="309563"/>
                </a:lnTo>
                <a:cubicBezTo>
                  <a:pt x="321469" y="309563"/>
                  <a:pt x="333301" y="297731"/>
                  <a:pt x="333301" y="283146"/>
                </a:cubicBezTo>
                <a:cubicBezTo>
                  <a:pt x="333301" y="277118"/>
                  <a:pt x="331291" y="271314"/>
                  <a:pt x="327496" y="266626"/>
                </a:cubicBezTo>
                <a:lnTo>
                  <a:pt x="320204" y="257547"/>
                </a:lnTo>
                <a:cubicBezTo>
                  <a:pt x="297954" y="229567"/>
                  <a:pt x="285750" y="194816"/>
                  <a:pt x="285750" y="159023"/>
                </a:cubicBezTo>
                <a:lnTo>
                  <a:pt x="285750" y="142875"/>
                </a:lnTo>
                <a:cubicBezTo>
                  <a:pt x="285750" y="85279"/>
                  <a:pt x="244822" y="37207"/>
                  <a:pt x="190500" y="26194"/>
                </a:cubicBezTo>
                <a:lnTo>
                  <a:pt x="190500" y="23812"/>
                </a:lnTo>
                <a:cubicBezTo>
                  <a:pt x="190500" y="10641"/>
                  <a:pt x="179859" y="0"/>
                  <a:pt x="166688" y="0"/>
                </a:cubicBezTo>
                <a:close/>
                <a:moveTo>
                  <a:pt x="120551" y="345281"/>
                </a:moveTo>
                <a:cubicBezTo>
                  <a:pt x="125834" y="365820"/>
                  <a:pt x="144512" y="381000"/>
                  <a:pt x="166688" y="381000"/>
                </a:cubicBezTo>
                <a:cubicBezTo>
                  <a:pt x="188863" y="381000"/>
                  <a:pt x="207541" y="365820"/>
                  <a:pt x="212824" y="345281"/>
                </a:cubicBezTo>
                <a:lnTo>
                  <a:pt x="120551" y="345281"/>
                </a:lnTo>
                <a:close/>
              </a:path>
            </a:pathLst>
          </a:custGeom>
          <a:solidFill>
            <a:srgbClr val="EAEAEA"/>
          </a:solidFill>
        </p:spPr>
      </p:sp>
      <p:sp>
        <p:nvSpPr>
          <p:cNvPr id="21" name="Text 18"/>
          <p:cNvSpPr/>
          <p:nvPr/>
        </p:nvSpPr>
        <p:spPr>
          <a:xfrm>
            <a:off x="10172568" y="4292600"/>
            <a:ext cx="1244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Alerting &amp; Viz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54000" y="38354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A76B8">
              <a:alpha val="50196"/>
            </a:srgbClr>
          </a:solidFill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NASA CMAPSS Dataset Breakdown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3200" y="9144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The dataset comprises four subsets with varying complexity, totaling 21 sensor readings and 3 operational settings per engine.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422400"/>
            <a:ext cx="5740400" cy="1778000"/>
          </a:xfrm>
          <a:custGeom>
            <a:avLst/>
            <a:gdLst/>
            <a:ahLst/>
            <a:cxnLst/>
            <a:rect l="l" t="t" r="r" b="b"/>
            <a:pathLst>
              <a:path w="5740400" h="1778000">
                <a:moveTo>
                  <a:pt x="101595" y="0"/>
                </a:moveTo>
                <a:lnTo>
                  <a:pt x="5638805" y="0"/>
                </a:lnTo>
                <a:cubicBezTo>
                  <a:pt x="5694914" y="0"/>
                  <a:pt x="5740400" y="45486"/>
                  <a:pt x="5740400" y="101595"/>
                </a:cubicBezTo>
                <a:lnTo>
                  <a:pt x="5740400" y="1676405"/>
                </a:lnTo>
                <a:cubicBezTo>
                  <a:pt x="5740400" y="1732514"/>
                  <a:pt x="5694914" y="1778000"/>
                  <a:pt x="56388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57200" y="1625600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FD001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981200"/>
            <a:ext cx="542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Operating Conditions: 1 | Fault Modes: 1 | Engines: 100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2900" y="2235200"/>
            <a:ext cx="544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~20k Samples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7600" y="1422400"/>
            <a:ext cx="5740400" cy="1778000"/>
          </a:xfrm>
          <a:custGeom>
            <a:avLst/>
            <a:gdLst/>
            <a:ahLst/>
            <a:cxnLst/>
            <a:rect l="l" t="t" r="r" b="b"/>
            <a:pathLst>
              <a:path w="5740400" h="1778000">
                <a:moveTo>
                  <a:pt x="101595" y="0"/>
                </a:moveTo>
                <a:lnTo>
                  <a:pt x="5638805" y="0"/>
                </a:lnTo>
                <a:cubicBezTo>
                  <a:pt x="5694914" y="0"/>
                  <a:pt x="5740400" y="45486"/>
                  <a:pt x="5740400" y="101595"/>
                </a:cubicBezTo>
                <a:lnTo>
                  <a:pt x="5740400" y="1676405"/>
                </a:lnTo>
                <a:cubicBezTo>
                  <a:pt x="5740400" y="1732514"/>
                  <a:pt x="5694914" y="1778000"/>
                  <a:pt x="56388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3A76B8">
              <a:alpha val="4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400800" y="1625600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FD002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1981200"/>
            <a:ext cx="542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Operating Conditions: 6 | Fault Modes: 1 | Engines: 260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86500" y="2235200"/>
            <a:ext cx="544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~49k Samples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4000" y="3403600"/>
            <a:ext cx="5740400" cy="1778000"/>
          </a:xfrm>
          <a:custGeom>
            <a:avLst/>
            <a:gdLst/>
            <a:ahLst/>
            <a:cxnLst/>
            <a:rect l="l" t="t" r="r" b="b"/>
            <a:pathLst>
              <a:path w="5740400" h="1778000">
                <a:moveTo>
                  <a:pt x="101595" y="0"/>
                </a:moveTo>
                <a:lnTo>
                  <a:pt x="5638805" y="0"/>
                </a:lnTo>
                <a:cubicBezTo>
                  <a:pt x="5694914" y="0"/>
                  <a:pt x="5740400" y="45486"/>
                  <a:pt x="5740400" y="101595"/>
                </a:cubicBezTo>
                <a:lnTo>
                  <a:pt x="5740400" y="1676405"/>
                </a:lnTo>
                <a:cubicBezTo>
                  <a:pt x="5740400" y="1732514"/>
                  <a:pt x="5694914" y="1778000"/>
                  <a:pt x="56388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3A76B8">
              <a:alpha val="4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457200" y="3606800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FD003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3962400"/>
            <a:ext cx="542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Operating Conditions: 1 | Fault Modes: 2 | Engines: 100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2900" y="4216400"/>
            <a:ext cx="544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~24k Samples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7600" y="3403600"/>
            <a:ext cx="5740400" cy="1778000"/>
          </a:xfrm>
          <a:custGeom>
            <a:avLst/>
            <a:gdLst/>
            <a:ahLst/>
            <a:cxnLst/>
            <a:rect l="l" t="t" r="r" b="b"/>
            <a:pathLst>
              <a:path w="5740400" h="1778000">
                <a:moveTo>
                  <a:pt x="101595" y="0"/>
                </a:moveTo>
                <a:lnTo>
                  <a:pt x="5638805" y="0"/>
                </a:lnTo>
                <a:cubicBezTo>
                  <a:pt x="5694914" y="0"/>
                  <a:pt x="5740400" y="45486"/>
                  <a:pt x="5740400" y="101595"/>
                </a:cubicBezTo>
                <a:lnTo>
                  <a:pt x="5740400" y="1676405"/>
                </a:lnTo>
                <a:cubicBezTo>
                  <a:pt x="5740400" y="1732514"/>
                  <a:pt x="5694914" y="1778000"/>
                  <a:pt x="56388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3A76B8">
              <a:alpha val="5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6400800" y="3606800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FD004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0" y="3962400"/>
            <a:ext cx="542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Operating Conditions: 6 | Fault Modes: 2 | Engines: 249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86500" y="4216400"/>
            <a:ext cx="544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~61k Samples</a:t>
            </a:r>
            <a:endParaRPr lang="en-US" sz="1600" dirty="0"/>
          </a:p>
        </p:txBody>
      </p:sp>
      <p:pic>
        <p:nvPicPr>
          <p:cNvPr id="21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5384800"/>
            <a:ext cx="11684000" cy="1219200"/>
          </a:xfrm>
          <a:prstGeom prst="roundRect">
            <a:avLst>
              <a:gd name="adj" fmla="val 8333"/>
            </a:avLst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711200"/>
            <a:ext cx="57277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 Preprocessing &amp; Feature Engineering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33904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3597" y="100013"/>
                </a:moveTo>
                <a:lnTo>
                  <a:pt x="139303" y="100013"/>
                </a:lnTo>
                <a:cubicBezTo>
                  <a:pt x="133365" y="100013"/>
                  <a:pt x="128588" y="95235"/>
                  <a:pt x="128588" y="89297"/>
                </a:cubicBezTo>
                <a:lnTo>
                  <a:pt x="128588" y="25003"/>
                </a:lnTo>
                <a:cubicBezTo>
                  <a:pt x="128588" y="20672"/>
                  <a:pt x="131177" y="16743"/>
                  <a:pt x="135195" y="15091"/>
                </a:cubicBezTo>
                <a:cubicBezTo>
                  <a:pt x="139214" y="13439"/>
                  <a:pt x="143813" y="14377"/>
                  <a:pt x="146893" y="17413"/>
                </a:cubicBezTo>
                <a:lnTo>
                  <a:pt x="164753" y="35272"/>
                </a:lnTo>
                <a:lnTo>
                  <a:pt x="197525" y="2500"/>
                </a:lnTo>
                <a:cubicBezTo>
                  <a:pt x="199132" y="893"/>
                  <a:pt x="201320" y="0"/>
                  <a:pt x="203597" y="0"/>
                </a:cubicBezTo>
                <a:cubicBezTo>
                  <a:pt x="205874" y="0"/>
                  <a:pt x="208062" y="893"/>
                  <a:pt x="209714" y="2545"/>
                </a:cubicBezTo>
                <a:lnTo>
                  <a:pt x="226100" y="18931"/>
                </a:lnTo>
                <a:cubicBezTo>
                  <a:pt x="227707" y="20538"/>
                  <a:pt x="228600" y="22726"/>
                  <a:pt x="228600" y="25003"/>
                </a:cubicBezTo>
                <a:cubicBezTo>
                  <a:pt x="228600" y="27280"/>
                  <a:pt x="227707" y="29468"/>
                  <a:pt x="226055" y="31120"/>
                </a:cubicBezTo>
                <a:lnTo>
                  <a:pt x="193328" y="63847"/>
                </a:lnTo>
                <a:lnTo>
                  <a:pt x="211187" y="81707"/>
                </a:lnTo>
                <a:cubicBezTo>
                  <a:pt x="214268" y="84787"/>
                  <a:pt x="215161" y="89386"/>
                  <a:pt x="213509" y="93405"/>
                </a:cubicBezTo>
                <a:cubicBezTo>
                  <a:pt x="211857" y="97423"/>
                  <a:pt x="207928" y="100013"/>
                  <a:pt x="203597" y="100013"/>
                </a:cubicBezTo>
                <a:close/>
                <a:moveTo>
                  <a:pt x="203597" y="128588"/>
                </a:moveTo>
                <a:cubicBezTo>
                  <a:pt x="207928" y="128588"/>
                  <a:pt x="211857" y="131177"/>
                  <a:pt x="213509" y="135195"/>
                </a:cubicBezTo>
                <a:cubicBezTo>
                  <a:pt x="215161" y="139214"/>
                  <a:pt x="214268" y="143813"/>
                  <a:pt x="211187" y="146893"/>
                </a:cubicBezTo>
                <a:lnTo>
                  <a:pt x="193328" y="164753"/>
                </a:lnTo>
                <a:lnTo>
                  <a:pt x="226100" y="197525"/>
                </a:lnTo>
                <a:cubicBezTo>
                  <a:pt x="227707" y="199132"/>
                  <a:pt x="228645" y="201320"/>
                  <a:pt x="228645" y="203642"/>
                </a:cubicBezTo>
                <a:cubicBezTo>
                  <a:pt x="228645" y="205963"/>
                  <a:pt x="227752" y="208106"/>
                  <a:pt x="226100" y="209758"/>
                </a:cubicBezTo>
                <a:lnTo>
                  <a:pt x="209714" y="226144"/>
                </a:lnTo>
                <a:cubicBezTo>
                  <a:pt x="208062" y="227707"/>
                  <a:pt x="205874" y="228600"/>
                  <a:pt x="203597" y="228600"/>
                </a:cubicBezTo>
                <a:cubicBezTo>
                  <a:pt x="201320" y="228600"/>
                  <a:pt x="199132" y="227707"/>
                  <a:pt x="197480" y="226055"/>
                </a:cubicBezTo>
                <a:lnTo>
                  <a:pt x="164753" y="193328"/>
                </a:lnTo>
                <a:lnTo>
                  <a:pt x="146893" y="211187"/>
                </a:lnTo>
                <a:cubicBezTo>
                  <a:pt x="143813" y="214268"/>
                  <a:pt x="139214" y="215161"/>
                  <a:pt x="135195" y="213509"/>
                </a:cubicBezTo>
                <a:cubicBezTo>
                  <a:pt x="131177" y="211857"/>
                  <a:pt x="128588" y="207928"/>
                  <a:pt x="128588" y="203597"/>
                </a:cubicBezTo>
                <a:lnTo>
                  <a:pt x="128588" y="139303"/>
                </a:lnTo>
                <a:cubicBezTo>
                  <a:pt x="128588" y="133365"/>
                  <a:pt x="133365" y="128588"/>
                  <a:pt x="139303" y="128588"/>
                </a:cubicBezTo>
                <a:lnTo>
                  <a:pt x="203597" y="128588"/>
                </a:lnTo>
                <a:close/>
                <a:moveTo>
                  <a:pt x="89297" y="128588"/>
                </a:moveTo>
                <a:cubicBezTo>
                  <a:pt x="95235" y="128588"/>
                  <a:pt x="100013" y="133365"/>
                  <a:pt x="100013" y="139303"/>
                </a:cubicBezTo>
                <a:lnTo>
                  <a:pt x="100013" y="203597"/>
                </a:lnTo>
                <a:cubicBezTo>
                  <a:pt x="100013" y="207928"/>
                  <a:pt x="97423" y="211857"/>
                  <a:pt x="93405" y="213509"/>
                </a:cubicBezTo>
                <a:cubicBezTo>
                  <a:pt x="89386" y="215161"/>
                  <a:pt x="84787" y="214268"/>
                  <a:pt x="81707" y="211187"/>
                </a:cubicBezTo>
                <a:lnTo>
                  <a:pt x="63847" y="193328"/>
                </a:lnTo>
                <a:lnTo>
                  <a:pt x="31075" y="226100"/>
                </a:lnTo>
                <a:cubicBezTo>
                  <a:pt x="29468" y="227707"/>
                  <a:pt x="27280" y="228600"/>
                  <a:pt x="25003" y="228600"/>
                </a:cubicBezTo>
                <a:cubicBezTo>
                  <a:pt x="22726" y="228600"/>
                  <a:pt x="20538" y="227707"/>
                  <a:pt x="18886" y="226055"/>
                </a:cubicBezTo>
                <a:lnTo>
                  <a:pt x="2545" y="209714"/>
                </a:lnTo>
                <a:cubicBezTo>
                  <a:pt x="893" y="208062"/>
                  <a:pt x="0" y="205874"/>
                  <a:pt x="0" y="203597"/>
                </a:cubicBezTo>
                <a:cubicBezTo>
                  <a:pt x="0" y="201320"/>
                  <a:pt x="893" y="199132"/>
                  <a:pt x="2545" y="197480"/>
                </a:cubicBezTo>
                <a:lnTo>
                  <a:pt x="35272" y="164753"/>
                </a:lnTo>
                <a:lnTo>
                  <a:pt x="17413" y="146893"/>
                </a:lnTo>
                <a:cubicBezTo>
                  <a:pt x="14332" y="143813"/>
                  <a:pt x="13439" y="139214"/>
                  <a:pt x="15091" y="135195"/>
                </a:cubicBezTo>
                <a:cubicBezTo>
                  <a:pt x="16743" y="131177"/>
                  <a:pt x="20672" y="128588"/>
                  <a:pt x="25003" y="128588"/>
                </a:cubicBezTo>
                <a:lnTo>
                  <a:pt x="89297" y="128588"/>
                </a:lnTo>
                <a:close/>
                <a:moveTo>
                  <a:pt x="25003" y="100013"/>
                </a:moveTo>
                <a:cubicBezTo>
                  <a:pt x="20672" y="100013"/>
                  <a:pt x="16743" y="97423"/>
                  <a:pt x="15091" y="93405"/>
                </a:cubicBezTo>
                <a:cubicBezTo>
                  <a:pt x="13439" y="89386"/>
                  <a:pt x="14377" y="84787"/>
                  <a:pt x="17413" y="81707"/>
                </a:cubicBezTo>
                <a:lnTo>
                  <a:pt x="35272" y="63847"/>
                </a:lnTo>
                <a:lnTo>
                  <a:pt x="2545" y="31120"/>
                </a:lnTo>
                <a:cubicBezTo>
                  <a:pt x="893" y="29468"/>
                  <a:pt x="0" y="27280"/>
                  <a:pt x="0" y="25003"/>
                </a:cubicBezTo>
                <a:cubicBezTo>
                  <a:pt x="0" y="22726"/>
                  <a:pt x="893" y="20538"/>
                  <a:pt x="2545" y="18886"/>
                </a:cubicBezTo>
                <a:lnTo>
                  <a:pt x="18886" y="2545"/>
                </a:lnTo>
                <a:cubicBezTo>
                  <a:pt x="20538" y="893"/>
                  <a:pt x="22726" y="0"/>
                  <a:pt x="25003" y="0"/>
                </a:cubicBezTo>
                <a:cubicBezTo>
                  <a:pt x="27280" y="0"/>
                  <a:pt x="29468" y="893"/>
                  <a:pt x="31120" y="2545"/>
                </a:cubicBezTo>
                <a:lnTo>
                  <a:pt x="63847" y="35272"/>
                </a:lnTo>
                <a:lnTo>
                  <a:pt x="81707" y="17413"/>
                </a:lnTo>
                <a:cubicBezTo>
                  <a:pt x="84787" y="14332"/>
                  <a:pt x="89386" y="13439"/>
                  <a:pt x="93405" y="15091"/>
                </a:cubicBezTo>
                <a:cubicBezTo>
                  <a:pt x="97423" y="16743"/>
                  <a:pt x="100013" y="20672"/>
                  <a:pt x="100013" y="25003"/>
                </a:cubicBezTo>
                <a:lnTo>
                  <a:pt x="100013" y="89297"/>
                </a:lnTo>
                <a:cubicBezTo>
                  <a:pt x="100013" y="95235"/>
                  <a:pt x="95235" y="100013"/>
                  <a:pt x="89297" y="100013"/>
                </a:cubicBezTo>
                <a:lnTo>
                  <a:pt x="25003" y="100013"/>
                </a:lnTo>
                <a:close/>
              </a:path>
            </a:pathLst>
          </a:custGeom>
          <a:solidFill>
            <a:srgbClr val="34B1C9"/>
          </a:solidFill>
        </p:spPr>
      </p:sp>
      <p:sp>
        <p:nvSpPr>
          <p:cNvPr id="5" name="Text 2"/>
          <p:cNvSpPr/>
          <p:nvPr/>
        </p:nvSpPr>
        <p:spPr>
          <a:xfrm>
            <a:off x="737791" y="1828800"/>
            <a:ext cx="51689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Normalization:</a:t>
            </a: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Min-Max scaling applied per dataset.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00038" y="2692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511" y="42863"/>
                </a:moveTo>
                <a:lnTo>
                  <a:pt x="14511" y="109612"/>
                </a:lnTo>
                <a:cubicBezTo>
                  <a:pt x="14511" y="117202"/>
                  <a:pt x="17502" y="124480"/>
                  <a:pt x="22860" y="129838"/>
                </a:cubicBezTo>
                <a:lnTo>
                  <a:pt x="108585" y="215563"/>
                </a:lnTo>
                <a:cubicBezTo>
                  <a:pt x="119747" y="226725"/>
                  <a:pt x="137830" y="226725"/>
                  <a:pt x="148992" y="215563"/>
                </a:cubicBezTo>
                <a:lnTo>
                  <a:pt x="215741" y="148813"/>
                </a:lnTo>
                <a:cubicBezTo>
                  <a:pt x="226903" y="137651"/>
                  <a:pt x="226903" y="119569"/>
                  <a:pt x="215741" y="108406"/>
                </a:cubicBezTo>
                <a:lnTo>
                  <a:pt x="130016" y="22681"/>
                </a:lnTo>
                <a:cubicBezTo>
                  <a:pt x="124658" y="17279"/>
                  <a:pt x="117425" y="14288"/>
                  <a:pt x="109835" y="14288"/>
                </a:cubicBezTo>
                <a:lnTo>
                  <a:pt x="43086" y="14288"/>
                </a:lnTo>
                <a:cubicBezTo>
                  <a:pt x="27325" y="14288"/>
                  <a:pt x="14511" y="27102"/>
                  <a:pt x="14511" y="42863"/>
                </a:cubicBezTo>
                <a:close/>
                <a:moveTo>
                  <a:pt x="64517" y="50006"/>
                </a:moveTo>
                <a:cubicBezTo>
                  <a:pt x="72402" y="50006"/>
                  <a:pt x="78804" y="56408"/>
                  <a:pt x="78804" y="64294"/>
                </a:cubicBezTo>
                <a:cubicBezTo>
                  <a:pt x="78804" y="72179"/>
                  <a:pt x="72402" y="78581"/>
                  <a:pt x="64517" y="78581"/>
                </a:cubicBezTo>
                <a:cubicBezTo>
                  <a:pt x="56632" y="78581"/>
                  <a:pt x="50229" y="72179"/>
                  <a:pt x="50229" y="64294"/>
                </a:cubicBezTo>
                <a:cubicBezTo>
                  <a:pt x="50229" y="56408"/>
                  <a:pt x="56632" y="50006"/>
                  <a:pt x="64517" y="50006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7" name="Text 4"/>
          <p:cNvSpPr/>
          <p:nvPr/>
        </p:nvSpPr>
        <p:spPr>
          <a:xfrm>
            <a:off x="670057" y="2692400"/>
            <a:ext cx="52324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Domain Encoding:</a:t>
            </a: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One-hot vectors for dataset IDs (ds_FD00X).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5017" y="355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39291" y="57150"/>
                </a:moveTo>
                <a:lnTo>
                  <a:pt x="189309" y="57150"/>
                </a:lnTo>
                <a:cubicBezTo>
                  <a:pt x="195248" y="57150"/>
                  <a:pt x="200025" y="61927"/>
                  <a:pt x="200025" y="67866"/>
                </a:cubicBezTo>
                <a:cubicBezTo>
                  <a:pt x="200025" y="73804"/>
                  <a:pt x="195248" y="78581"/>
                  <a:pt x="189309" y="78581"/>
                </a:cubicBezTo>
                <a:lnTo>
                  <a:pt x="39291" y="78581"/>
                </a:lnTo>
                <a:cubicBezTo>
                  <a:pt x="33352" y="78581"/>
                  <a:pt x="28575" y="73804"/>
                  <a:pt x="28575" y="67866"/>
                </a:cubicBezTo>
                <a:cubicBezTo>
                  <a:pt x="28575" y="61927"/>
                  <a:pt x="33352" y="57150"/>
                  <a:pt x="39291" y="57150"/>
                </a:cubicBezTo>
                <a:close/>
              </a:path>
            </a:pathLst>
          </a:custGeom>
          <a:solidFill>
            <a:srgbClr val="34B1C9"/>
          </a:solidFill>
        </p:spPr>
      </p:sp>
      <p:sp>
        <p:nvSpPr>
          <p:cNvPr id="9" name="Text 6"/>
          <p:cNvSpPr/>
          <p:nvPr/>
        </p:nvSpPr>
        <p:spPr>
          <a:xfrm>
            <a:off x="760016" y="3556000"/>
            <a:ext cx="51435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Sequence Creation:</a:t>
            </a: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Sliding window of 30 cycles.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4572000"/>
            <a:ext cx="5537200" cy="1574800"/>
          </a:xfrm>
          <a:custGeom>
            <a:avLst/>
            <a:gdLst/>
            <a:ahLst/>
            <a:cxnLst/>
            <a:rect l="l" t="t" r="r" b="b"/>
            <a:pathLst>
              <a:path w="5537200" h="1574800">
                <a:moveTo>
                  <a:pt x="101606" y="0"/>
                </a:moveTo>
                <a:lnTo>
                  <a:pt x="5435594" y="0"/>
                </a:lnTo>
                <a:cubicBezTo>
                  <a:pt x="5491709" y="0"/>
                  <a:pt x="5537200" y="45491"/>
                  <a:pt x="5537200" y="101606"/>
                </a:cubicBezTo>
                <a:lnTo>
                  <a:pt x="5537200" y="1473194"/>
                </a:lnTo>
                <a:cubicBezTo>
                  <a:pt x="5537200" y="1529309"/>
                  <a:pt x="5491709" y="1574800"/>
                  <a:pt x="54355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3A76B8">
              <a:alpha val="40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400050" y="4775200"/>
            <a:ext cx="5245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Final Input Shape: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130800"/>
            <a:ext cx="5283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220,000 sequences × 25 features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6400" y="56388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Output: Single RUL value per sequence.</a:t>
            </a:r>
            <a:endParaRPr lang="en-US" sz="1600" dirty="0"/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7172960" y="903605"/>
            <a:ext cx="4645660" cy="55327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066800"/>
            <a:ext cx="4559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727200"/>
            <a:ext cx="44831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 hybrid design to capture both long-term and short-term temporal patterns.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641600"/>
            <a:ext cx="4368800" cy="1117600"/>
          </a:xfrm>
          <a:custGeom>
            <a:avLst/>
            <a:gdLst/>
            <a:ahLst/>
            <a:cxnLst/>
            <a:rect l="l" t="t" r="r" b="b"/>
            <a:pathLst>
              <a:path w="4368800" h="1117600">
                <a:moveTo>
                  <a:pt x="101601" y="0"/>
                </a:moveTo>
                <a:lnTo>
                  <a:pt x="4267199" y="0"/>
                </a:lnTo>
                <a:cubicBezTo>
                  <a:pt x="4323312" y="0"/>
                  <a:pt x="4368800" y="45488"/>
                  <a:pt x="4368800" y="101601"/>
                </a:cubicBezTo>
                <a:lnTo>
                  <a:pt x="4368800" y="1015999"/>
                </a:lnTo>
                <a:cubicBezTo>
                  <a:pt x="4368800" y="1072112"/>
                  <a:pt x="4323312" y="1117600"/>
                  <a:pt x="42671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06400" y="2794000"/>
            <a:ext cx="416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Bidirectional LSTM (128 units)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6400" y="3098800"/>
            <a:ext cx="415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Captures long-term dependencies by processing data in both forward and reverse directions.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" y="3911600"/>
            <a:ext cx="4368800" cy="1117600"/>
          </a:xfrm>
          <a:custGeom>
            <a:avLst/>
            <a:gdLst/>
            <a:ahLst/>
            <a:cxnLst/>
            <a:rect l="l" t="t" r="r" b="b"/>
            <a:pathLst>
              <a:path w="4368800" h="1117600">
                <a:moveTo>
                  <a:pt x="101601" y="0"/>
                </a:moveTo>
                <a:lnTo>
                  <a:pt x="4267199" y="0"/>
                </a:lnTo>
                <a:cubicBezTo>
                  <a:pt x="4323312" y="0"/>
                  <a:pt x="4368800" y="45488"/>
                  <a:pt x="4368800" y="101601"/>
                </a:cubicBezTo>
                <a:lnTo>
                  <a:pt x="4368800" y="1015999"/>
                </a:lnTo>
                <a:cubicBezTo>
                  <a:pt x="4368800" y="1072112"/>
                  <a:pt x="4323312" y="1117600"/>
                  <a:pt x="42671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406400" y="4064000"/>
            <a:ext cx="416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GRU (64 units)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400" y="4368800"/>
            <a:ext cx="415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Learns short-term variations and refines the features extracted by the LSTM layer.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" y="5232400"/>
            <a:ext cx="4368800" cy="558800"/>
          </a:xfrm>
          <a:custGeom>
            <a:avLst/>
            <a:gdLst/>
            <a:ahLst/>
            <a:cxnLst/>
            <a:rect l="l" t="t" r="r" b="b"/>
            <a:pathLst>
              <a:path w="4368800" h="558800">
                <a:moveTo>
                  <a:pt x="101601" y="0"/>
                </a:moveTo>
                <a:lnTo>
                  <a:pt x="4267199" y="0"/>
                </a:lnTo>
                <a:cubicBezTo>
                  <a:pt x="4323312" y="0"/>
                  <a:pt x="4368800" y="45488"/>
                  <a:pt x="4368800" y="101601"/>
                </a:cubicBezTo>
                <a:lnTo>
                  <a:pt x="4368800" y="457199"/>
                </a:lnTo>
                <a:cubicBezTo>
                  <a:pt x="4368800" y="513312"/>
                  <a:pt x="4323312" y="558800"/>
                  <a:pt x="42671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57AFFF">
              <a:alpha val="20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406400" y="5384800"/>
            <a:ext cx="415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Loss:</a:t>
            </a: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MSE | </a:t>
            </a: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Optimizer:</a:t>
            </a: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Adam | </a:t>
            </a: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Metric:</a:t>
            </a: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MAE</a:t>
            </a:r>
            <a:endParaRPr lang="en-US" sz="1600" dirty="0"/>
          </a:p>
        </p:txBody>
      </p:sp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5154295" y="1920875"/>
            <a:ext cx="7037705" cy="3463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Training Configuration &amp; Setup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248400" y="1549400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101594" y="0"/>
                </a:moveTo>
                <a:lnTo>
                  <a:pt x="5588006" y="0"/>
                </a:lnTo>
                <a:cubicBezTo>
                  <a:pt x="5644115" y="0"/>
                  <a:pt x="5689600" y="45485"/>
                  <a:pt x="5689600" y="101594"/>
                </a:cubicBezTo>
                <a:lnTo>
                  <a:pt x="5689600" y="1270006"/>
                </a:lnTo>
                <a:cubicBezTo>
                  <a:pt x="5689600" y="1326115"/>
                  <a:pt x="5644115" y="1371600"/>
                  <a:pt x="5588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6" name="Text 2"/>
          <p:cNvSpPr/>
          <p:nvPr/>
        </p:nvSpPr>
        <p:spPr>
          <a:xfrm>
            <a:off x="6451600" y="17526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Training Parameters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1600" y="21082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Epochs: 80, Batch Size: 64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1600" y="24130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Train/Validation Split: 80/20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8400" y="3124200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101594" y="0"/>
                </a:moveTo>
                <a:lnTo>
                  <a:pt x="5588006" y="0"/>
                </a:lnTo>
                <a:cubicBezTo>
                  <a:pt x="5644115" y="0"/>
                  <a:pt x="5689600" y="45485"/>
                  <a:pt x="5689600" y="101594"/>
                </a:cubicBezTo>
                <a:lnTo>
                  <a:pt x="5689600" y="1270006"/>
                </a:lnTo>
                <a:cubicBezTo>
                  <a:pt x="5689600" y="1326115"/>
                  <a:pt x="5644115" y="1371600"/>
                  <a:pt x="5588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6451600" y="33274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Callbacks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51600" y="36830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Early Stopping (Patience=10)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51600" y="39878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ReduceLROnPlateau, ModelCheckpoint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48400" y="4699000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101594" y="0"/>
                </a:moveTo>
                <a:lnTo>
                  <a:pt x="5588006" y="0"/>
                </a:lnTo>
                <a:cubicBezTo>
                  <a:pt x="5644115" y="0"/>
                  <a:pt x="5689600" y="45485"/>
                  <a:pt x="5689600" y="101594"/>
                </a:cubicBezTo>
                <a:lnTo>
                  <a:pt x="5689600" y="1270006"/>
                </a:lnTo>
                <a:cubicBezTo>
                  <a:pt x="5689600" y="1326115"/>
                  <a:pt x="5644115" y="1371600"/>
                  <a:pt x="5588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57AFFF">
              <a:alpha val="30196"/>
            </a:srgbClr>
          </a:solidFill>
        </p:spPr>
      </p:sp>
      <p:sp>
        <p:nvSpPr>
          <p:cNvPr id="14" name="Text 10"/>
          <p:cNvSpPr/>
          <p:nvPr/>
        </p:nvSpPr>
        <p:spPr>
          <a:xfrm>
            <a:off x="6451600" y="49022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Training Outcome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51600" y="52578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Stopped at </a:t>
            </a: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Epoch 50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(Best Val Loss)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51600" y="55626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Hardware: 16GB RAM, CPU/GPU</a:t>
            </a:r>
            <a:endParaRPr lang="en-US" sz="1600" dirty="0"/>
          </a:p>
        </p:txBody>
      </p:sp>
      <p:pic>
        <p:nvPicPr>
          <p:cNvPr id="17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888490"/>
            <a:ext cx="5893435" cy="31457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Results &amp; Evaluation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Training Performance Results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955800"/>
            <a:ext cx="3797300" cy="1371600"/>
          </a:xfrm>
          <a:custGeom>
            <a:avLst/>
            <a:gdLst/>
            <a:ahLst/>
            <a:cxnLst/>
            <a:rect l="l" t="t" r="r" b="b"/>
            <a:pathLst>
              <a:path w="3797300" h="1371600">
                <a:moveTo>
                  <a:pt x="101594" y="0"/>
                </a:moveTo>
                <a:lnTo>
                  <a:pt x="3695706" y="0"/>
                </a:lnTo>
                <a:cubicBezTo>
                  <a:pt x="3751815" y="0"/>
                  <a:pt x="3797300" y="45485"/>
                  <a:pt x="3797300" y="101594"/>
                </a:cubicBezTo>
                <a:lnTo>
                  <a:pt x="3797300" y="1270006"/>
                </a:lnTo>
                <a:cubicBezTo>
                  <a:pt x="3797300" y="1326115"/>
                  <a:pt x="3751815" y="1371600"/>
                  <a:pt x="36957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400050" y="2159000"/>
            <a:ext cx="3505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Epoch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6400" y="2514600"/>
            <a:ext cx="3492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 MSE: </a:t>
            </a: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2573.08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6400" y="2819400"/>
            <a:ext cx="3492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Val MSE: </a:t>
            </a: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2231.30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" y="3530600"/>
            <a:ext cx="3797300" cy="1371600"/>
          </a:xfrm>
          <a:custGeom>
            <a:avLst/>
            <a:gdLst/>
            <a:ahLst/>
            <a:cxnLst/>
            <a:rect l="l" t="t" r="r" b="b"/>
            <a:pathLst>
              <a:path w="3797300" h="1371600">
                <a:moveTo>
                  <a:pt x="101594" y="0"/>
                </a:moveTo>
                <a:lnTo>
                  <a:pt x="3695706" y="0"/>
                </a:lnTo>
                <a:cubicBezTo>
                  <a:pt x="3751815" y="0"/>
                  <a:pt x="3797300" y="45485"/>
                  <a:pt x="3797300" y="101594"/>
                </a:cubicBezTo>
                <a:lnTo>
                  <a:pt x="3797300" y="1270006"/>
                </a:lnTo>
                <a:cubicBezTo>
                  <a:pt x="3797300" y="1326115"/>
                  <a:pt x="3751815" y="1371600"/>
                  <a:pt x="36957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57AFFF">
              <a:alpha val="3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400050" y="3733800"/>
            <a:ext cx="3505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Epoch 50 (Best)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400" y="4089400"/>
            <a:ext cx="3492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 MSE: </a:t>
            </a:r>
            <a:r>
              <a:rPr lang="en-US" sz="16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296.75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6400" y="4394200"/>
            <a:ext cx="3492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Val MSE: </a:t>
            </a:r>
            <a:r>
              <a:rPr lang="en-US" sz="16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334.21</a:t>
            </a:r>
            <a:endParaRPr lang="en-US" sz="1600" dirty="0"/>
          </a:p>
        </p:txBody>
      </p:sp>
      <p:pic>
        <p:nvPicPr>
          <p:cNvPr id="12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867" y="914400"/>
            <a:ext cx="7581900" cy="5029200"/>
          </a:xfrm>
          <a:prstGeom prst="roundRect">
            <a:avLst>
              <a:gd name="adj" fmla="val 2020"/>
            </a:avLst>
          </a:prstGeom>
        </p:spPr>
      </p:pic>
      <p:sp>
        <p:nvSpPr>
          <p:cNvPr id="13" name="Shape 9"/>
          <p:cNvSpPr/>
          <p:nvPr/>
        </p:nvSpPr>
        <p:spPr>
          <a:xfrm>
            <a:off x="254000" y="6146800"/>
            <a:ext cx="3759200" cy="457200"/>
          </a:xfrm>
          <a:custGeom>
            <a:avLst/>
            <a:gdLst/>
            <a:ahLst/>
            <a:cxnLst/>
            <a:rect l="l" t="t" r="r" b="b"/>
            <a:pathLst>
              <a:path w="3759200" h="457200">
                <a:moveTo>
                  <a:pt x="101599" y="0"/>
                </a:moveTo>
                <a:lnTo>
                  <a:pt x="3657601" y="0"/>
                </a:lnTo>
                <a:cubicBezTo>
                  <a:pt x="3713713" y="0"/>
                  <a:pt x="3759200" y="45487"/>
                  <a:pt x="3759200" y="101599"/>
                </a:cubicBezTo>
                <a:lnTo>
                  <a:pt x="3759200" y="355601"/>
                </a:lnTo>
                <a:cubicBezTo>
                  <a:pt x="3759200" y="411713"/>
                  <a:pt x="3713713" y="457200"/>
                  <a:pt x="365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4" name="Text 10"/>
          <p:cNvSpPr/>
          <p:nvPr/>
        </p:nvSpPr>
        <p:spPr>
          <a:xfrm>
            <a:off x="311150" y="62484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 Loss steadily decreased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216400" y="6146800"/>
            <a:ext cx="3759200" cy="457200"/>
          </a:xfrm>
          <a:custGeom>
            <a:avLst/>
            <a:gdLst/>
            <a:ahLst/>
            <a:cxnLst/>
            <a:rect l="l" t="t" r="r" b="b"/>
            <a:pathLst>
              <a:path w="3759200" h="457200">
                <a:moveTo>
                  <a:pt x="101599" y="0"/>
                </a:moveTo>
                <a:lnTo>
                  <a:pt x="3657601" y="0"/>
                </a:lnTo>
                <a:cubicBezTo>
                  <a:pt x="3713713" y="0"/>
                  <a:pt x="3759200" y="45487"/>
                  <a:pt x="3759200" y="101599"/>
                </a:cubicBezTo>
                <a:lnTo>
                  <a:pt x="3759200" y="355601"/>
                </a:lnTo>
                <a:cubicBezTo>
                  <a:pt x="3759200" y="411713"/>
                  <a:pt x="3713713" y="457200"/>
                  <a:pt x="365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6" name="Text 12"/>
          <p:cNvSpPr/>
          <p:nvPr/>
        </p:nvSpPr>
        <p:spPr>
          <a:xfrm>
            <a:off x="4273550" y="62484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 Validation follows training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78800" y="6146800"/>
            <a:ext cx="3759200" cy="457200"/>
          </a:xfrm>
          <a:custGeom>
            <a:avLst/>
            <a:gdLst/>
            <a:ahLst/>
            <a:cxnLst/>
            <a:rect l="l" t="t" r="r" b="b"/>
            <a:pathLst>
              <a:path w="3759200" h="457200">
                <a:moveTo>
                  <a:pt x="101599" y="0"/>
                </a:moveTo>
                <a:lnTo>
                  <a:pt x="3657601" y="0"/>
                </a:lnTo>
                <a:cubicBezTo>
                  <a:pt x="3713713" y="0"/>
                  <a:pt x="3759200" y="45487"/>
                  <a:pt x="3759200" y="101599"/>
                </a:cubicBezTo>
                <a:lnTo>
                  <a:pt x="3759200" y="355601"/>
                </a:lnTo>
                <a:cubicBezTo>
                  <a:pt x="3759200" y="411713"/>
                  <a:pt x="3713713" y="457200"/>
                  <a:pt x="365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8" name="Text 14"/>
          <p:cNvSpPr/>
          <p:nvPr/>
        </p:nvSpPr>
        <p:spPr>
          <a:xfrm>
            <a:off x="8235950" y="62484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 RMSE ≈ </a:t>
            </a:r>
            <a:r>
              <a:rPr lang="en-US" sz="14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18.27</a:t>
            </a: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cycles</a:t>
            </a:r>
            <a:endParaRPr lang="en-US" sz="1600" dirty="0"/>
          </a:p>
        </p:txBody>
      </p:sp>
      <p:pic>
        <p:nvPicPr>
          <p:cNvPr id="19" name="Picture 18"/>
          <p:cNvPicPr/>
          <p:nvPr/>
        </p:nvPicPr>
        <p:blipFill>
          <a:blip r:embed="rId3"/>
          <a:stretch>
            <a:fillRect/>
          </a:stretch>
        </p:blipFill>
        <p:spPr>
          <a:xfrm>
            <a:off x="5516118" y="914400"/>
            <a:ext cx="5678424" cy="502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Cross-Dataset Model Evaluation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2"/>
            </p:custDataLst>
          </p:nvPr>
        </p:nvSpPr>
        <p:spPr>
          <a:xfrm>
            <a:off x="3286760" y="1825841"/>
            <a:ext cx="5689600" cy="609600"/>
          </a:xfrm>
          <a:custGeom>
            <a:avLst/>
            <a:gdLst/>
            <a:ahLst/>
            <a:cxnLst/>
            <a:rect l="l" t="t" r="r" b="b"/>
            <a:pathLst>
              <a:path w="5689600" h="6096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507998"/>
                </a:lnTo>
                <a:cubicBezTo>
                  <a:pt x="5689600" y="564111"/>
                  <a:pt x="5644111" y="609600"/>
                  <a:pt x="558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6" name="Text 2"/>
          <p:cNvSpPr/>
          <p:nvPr>
            <p:custDataLst>
              <p:tags r:id="rId3"/>
            </p:custDataLst>
          </p:nvPr>
        </p:nvSpPr>
        <p:spPr>
          <a:xfrm>
            <a:off x="3439160" y="1978241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FD001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613896" y="1978241"/>
            <a:ext cx="2311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RMSE: </a:t>
            </a: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17.28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| MAE: 10.5</a:t>
            </a:r>
            <a:endParaRPr lang="en-US" sz="1600" dirty="0"/>
          </a:p>
        </p:txBody>
      </p:sp>
      <p:sp>
        <p:nvSpPr>
          <p:cNvPr id="8" name="Shape 4"/>
          <p:cNvSpPr/>
          <p:nvPr>
            <p:custDataLst>
              <p:tags r:id="rId5"/>
            </p:custDataLst>
          </p:nvPr>
        </p:nvSpPr>
        <p:spPr>
          <a:xfrm>
            <a:off x="3286760" y="2587841"/>
            <a:ext cx="5689600" cy="609600"/>
          </a:xfrm>
          <a:custGeom>
            <a:avLst/>
            <a:gdLst/>
            <a:ahLst/>
            <a:cxnLst/>
            <a:rect l="l" t="t" r="r" b="b"/>
            <a:pathLst>
              <a:path w="5689600" h="6096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507998"/>
                </a:lnTo>
                <a:cubicBezTo>
                  <a:pt x="5689600" y="564111"/>
                  <a:pt x="5644111" y="609600"/>
                  <a:pt x="558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3439160" y="2740241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FD002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6613896" y="2740241"/>
            <a:ext cx="2311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RMSE: </a:t>
            </a: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17.30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| MAE: 10.7</a:t>
            </a:r>
            <a:endParaRPr lang="en-US" sz="1600" dirty="0"/>
          </a:p>
        </p:txBody>
      </p:sp>
      <p:sp>
        <p:nvSpPr>
          <p:cNvPr id="11" name="Shape 7"/>
          <p:cNvSpPr/>
          <p:nvPr>
            <p:custDataLst>
              <p:tags r:id="rId8"/>
            </p:custDataLst>
          </p:nvPr>
        </p:nvSpPr>
        <p:spPr>
          <a:xfrm>
            <a:off x="3286760" y="3349841"/>
            <a:ext cx="5689600" cy="609600"/>
          </a:xfrm>
          <a:custGeom>
            <a:avLst/>
            <a:gdLst/>
            <a:ahLst/>
            <a:cxnLst/>
            <a:rect l="l" t="t" r="r" b="b"/>
            <a:pathLst>
              <a:path w="5689600" h="6096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507998"/>
                </a:lnTo>
                <a:cubicBezTo>
                  <a:pt x="5689600" y="564111"/>
                  <a:pt x="5644111" y="609600"/>
                  <a:pt x="558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3439160" y="3502241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FD003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613896" y="3502241"/>
            <a:ext cx="2311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RMSE: </a:t>
            </a:r>
            <a:r>
              <a:rPr lang="en-US" sz="16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17.75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| MAE: 10.6</a:t>
            </a:r>
            <a:endParaRPr lang="en-US" sz="1600" dirty="0"/>
          </a:p>
        </p:txBody>
      </p:sp>
      <p:sp>
        <p:nvSpPr>
          <p:cNvPr id="14" name="Shape 10"/>
          <p:cNvSpPr/>
          <p:nvPr>
            <p:custDataLst>
              <p:tags r:id="rId11"/>
            </p:custDataLst>
          </p:nvPr>
        </p:nvSpPr>
        <p:spPr>
          <a:xfrm>
            <a:off x="3286760" y="4111841"/>
            <a:ext cx="5689600" cy="609600"/>
          </a:xfrm>
          <a:custGeom>
            <a:avLst/>
            <a:gdLst/>
            <a:ahLst/>
            <a:cxnLst/>
            <a:rect l="l" t="t" r="r" b="b"/>
            <a:pathLst>
              <a:path w="5689600" h="6096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507998"/>
                </a:lnTo>
                <a:cubicBezTo>
                  <a:pt x="5689600" y="564111"/>
                  <a:pt x="5644111" y="609600"/>
                  <a:pt x="558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7AFFF">
              <a:alpha val="30196"/>
            </a:srgbClr>
          </a:solidFill>
        </p:spPr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3439160" y="4264241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FD004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613896" y="4264241"/>
            <a:ext cx="2311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RMSE: </a:t>
            </a:r>
            <a:r>
              <a:rPr lang="en-US" sz="16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16.91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| MAE: 10.5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54000" y="5960535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76B8">
              <a:alpha val="40000"/>
            </a:srgbClr>
          </a:solidFill>
        </p:spPr>
      </p:sp>
      <p:sp>
        <p:nvSpPr>
          <p:cNvPr id="18" name="Text 14"/>
          <p:cNvSpPr/>
          <p:nvPr/>
        </p:nvSpPr>
        <p:spPr>
          <a:xfrm>
            <a:off x="196850" y="5960535"/>
            <a:ext cx="11798300" cy="101600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 The model demonstrates strong generalization across all four datasets, proving its robustness and adaptability.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Predicted vs Actual RUL Trends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355600" y="1016000"/>
            <a:ext cx="736600" cy="355600"/>
          </a:xfrm>
          <a:custGeom>
            <a:avLst/>
            <a:gdLst/>
            <a:ahLst/>
            <a:cxnLst/>
            <a:rect l="l" t="t" r="r" b="b"/>
            <a:pathLst>
              <a:path w="736600" h="355600">
                <a:moveTo>
                  <a:pt x="50801" y="0"/>
                </a:moveTo>
                <a:lnTo>
                  <a:pt x="685799" y="0"/>
                </a:lnTo>
                <a:cubicBezTo>
                  <a:pt x="713856" y="0"/>
                  <a:pt x="736600" y="22744"/>
                  <a:pt x="736600" y="50801"/>
                </a:cubicBezTo>
                <a:lnTo>
                  <a:pt x="736600" y="304799"/>
                </a:lnTo>
                <a:cubicBezTo>
                  <a:pt x="736600" y="332856"/>
                  <a:pt x="713856" y="355600"/>
                  <a:pt x="685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A76B8">
              <a:alpha val="80000"/>
            </a:srgbClr>
          </a:solidFill>
        </p:spPr>
      </p:sp>
      <p:sp>
        <p:nvSpPr>
          <p:cNvPr id="6" name="Text 2"/>
          <p:cNvSpPr/>
          <p:nvPr/>
        </p:nvSpPr>
        <p:spPr>
          <a:xfrm>
            <a:off x="355600" y="1016000"/>
            <a:ext cx="8255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FD001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6299200" y="1016000"/>
            <a:ext cx="736600" cy="355600"/>
          </a:xfrm>
          <a:custGeom>
            <a:avLst/>
            <a:gdLst/>
            <a:ahLst/>
            <a:cxnLst/>
            <a:rect l="l" t="t" r="r" b="b"/>
            <a:pathLst>
              <a:path w="736600" h="355600">
                <a:moveTo>
                  <a:pt x="50801" y="0"/>
                </a:moveTo>
                <a:lnTo>
                  <a:pt x="685799" y="0"/>
                </a:lnTo>
                <a:cubicBezTo>
                  <a:pt x="713856" y="0"/>
                  <a:pt x="736600" y="22744"/>
                  <a:pt x="736600" y="50801"/>
                </a:cubicBezTo>
                <a:lnTo>
                  <a:pt x="736600" y="304799"/>
                </a:lnTo>
                <a:cubicBezTo>
                  <a:pt x="736600" y="332856"/>
                  <a:pt x="713856" y="355600"/>
                  <a:pt x="685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A76B8">
              <a:alpha val="80000"/>
            </a:srgbClr>
          </a:solidFill>
        </p:spPr>
      </p:sp>
      <p:sp>
        <p:nvSpPr>
          <p:cNvPr id="9" name="Text 4"/>
          <p:cNvSpPr/>
          <p:nvPr/>
        </p:nvSpPr>
        <p:spPr>
          <a:xfrm>
            <a:off x="6299200" y="1016000"/>
            <a:ext cx="8255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FD002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355600" y="6959600"/>
            <a:ext cx="736600" cy="355600"/>
          </a:xfrm>
          <a:custGeom>
            <a:avLst/>
            <a:gdLst/>
            <a:ahLst/>
            <a:cxnLst/>
            <a:rect l="l" t="t" r="r" b="b"/>
            <a:pathLst>
              <a:path w="736600" h="355600">
                <a:moveTo>
                  <a:pt x="50801" y="0"/>
                </a:moveTo>
                <a:lnTo>
                  <a:pt x="685799" y="0"/>
                </a:lnTo>
                <a:cubicBezTo>
                  <a:pt x="713856" y="0"/>
                  <a:pt x="736600" y="22744"/>
                  <a:pt x="736600" y="50801"/>
                </a:cubicBezTo>
                <a:lnTo>
                  <a:pt x="736600" y="304799"/>
                </a:lnTo>
                <a:cubicBezTo>
                  <a:pt x="736600" y="332856"/>
                  <a:pt x="713856" y="355600"/>
                  <a:pt x="685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A76B8">
              <a:alpha val="80000"/>
            </a:srgbClr>
          </a:solidFill>
        </p:spPr>
      </p:sp>
      <p:sp>
        <p:nvSpPr>
          <p:cNvPr id="12" name="Text 6"/>
          <p:cNvSpPr/>
          <p:nvPr/>
        </p:nvSpPr>
        <p:spPr>
          <a:xfrm>
            <a:off x="355600" y="6959600"/>
            <a:ext cx="8255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FD003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6299200" y="6959600"/>
            <a:ext cx="736600" cy="355600"/>
          </a:xfrm>
          <a:custGeom>
            <a:avLst/>
            <a:gdLst/>
            <a:ahLst/>
            <a:cxnLst/>
            <a:rect l="l" t="t" r="r" b="b"/>
            <a:pathLst>
              <a:path w="736600" h="355600">
                <a:moveTo>
                  <a:pt x="50801" y="0"/>
                </a:moveTo>
                <a:lnTo>
                  <a:pt x="685799" y="0"/>
                </a:lnTo>
                <a:cubicBezTo>
                  <a:pt x="713856" y="0"/>
                  <a:pt x="736600" y="22744"/>
                  <a:pt x="736600" y="50801"/>
                </a:cubicBezTo>
                <a:lnTo>
                  <a:pt x="736600" y="304799"/>
                </a:lnTo>
                <a:cubicBezTo>
                  <a:pt x="736600" y="332856"/>
                  <a:pt x="713856" y="355600"/>
                  <a:pt x="685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7AFFF">
              <a:alpha val="80000"/>
            </a:srgbClr>
          </a:solidFill>
        </p:spPr>
      </p:sp>
      <p:sp>
        <p:nvSpPr>
          <p:cNvPr id="15" name="Text 8"/>
          <p:cNvSpPr/>
          <p:nvPr/>
        </p:nvSpPr>
        <p:spPr>
          <a:xfrm>
            <a:off x="6299200" y="6959600"/>
            <a:ext cx="8255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FD004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254000" y="12801600"/>
            <a:ext cx="5740400" cy="711200"/>
          </a:xfrm>
          <a:custGeom>
            <a:avLst/>
            <a:gdLst/>
            <a:ahLst/>
            <a:cxnLst/>
            <a:rect l="l" t="t" r="r" b="b"/>
            <a:pathLst>
              <a:path w="5740400" h="7112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609598"/>
                </a:lnTo>
                <a:cubicBezTo>
                  <a:pt x="5740400" y="665711"/>
                  <a:pt x="5694911" y="711200"/>
                  <a:pt x="56387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7" name="Text 10"/>
          <p:cNvSpPr/>
          <p:nvPr/>
        </p:nvSpPr>
        <p:spPr>
          <a:xfrm>
            <a:off x="311150" y="12903200"/>
            <a:ext cx="562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Predicted RUL closely aligns with actual values.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197600" y="12801600"/>
            <a:ext cx="5740400" cy="711200"/>
          </a:xfrm>
          <a:custGeom>
            <a:avLst/>
            <a:gdLst/>
            <a:ahLst/>
            <a:cxnLst/>
            <a:rect l="l" t="t" r="r" b="b"/>
            <a:pathLst>
              <a:path w="5740400" h="7112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609598"/>
                </a:lnTo>
                <a:cubicBezTo>
                  <a:pt x="5740400" y="665711"/>
                  <a:pt x="5694911" y="711200"/>
                  <a:pt x="56387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</p:spPr>
      </p:sp>
      <p:sp>
        <p:nvSpPr>
          <p:cNvPr id="19" name="Text 12"/>
          <p:cNvSpPr/>
          <p:nvPr/>
        </p:nvSpPr>
        <p:spPr>
          <a:xfrm>
            <a:off x="6254750" y="12903200"/>
            <a:ext cx="5626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Error distribution is centered near zero, indicating unbiased predictions.</a:t>
            </a:r>
            <a:endParaRPr lang="en-US" sz="1600" dirty="0"/>
          </a:p>
        </p:txBody>
      </p:sp>
      <p:pic>
        <p:nvPicPr>
          <p:cNvPr id="20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016635"/>
            <a:ext cx="12268835" cy="58858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Insights &amp; Applications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pic>
        <p:nvPicPr>
          <p:cNvPr id="3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400800" y="1219200"/>
            <a:ext cx="57277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Risk Thresholding &amp; Alert System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00800" y="2336800"/>
            <a:ext cx="5638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Automated alerts are triggered based on the predicted RUL to enable proactive maintenance.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400800" y="3149600"/>
            <a:ext cx="5537200" cy="508000"/>
          </a:xfrm>
          <a:custGeom>
            <a:avLst/>
            <a:gdLst/>
            <a:ahLst/>
            <a:cxnLst/>
            <a:rect l="l" t="t" r="r" b="b"/>
            <a:pathLst>
              <a:path w="5537200" h="5080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406400"/>
                </a:lnTo>
                <a:cubicBezTo>
                  <a:pt x="5537200" y="462475"/>
                  <a:pt x="5491675" y="508000"/>
                  <a:pt x="5435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A63E">
              <a:alpha val="30196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6578600" y="327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8" name="Text 4"/>
          <p:cNvSpPr/>
          <p:nvPr/>
        </p:nvSpPr>
        <p:spPr>
          <a:xfrm>
            <a:off x="7061200" y="32512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Normal: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RUL &gt; 80 cycles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0" y="3810000"/>
            <a:ext cx="5537200" cy="508000"/>
          </a:xfrm>
          <a:custGeom>
            <a:avLst/>
            <a:gdLst/>
            <a:ahLst/>
            <a:cxnLst/>
            <a:rect l="l" t="t" r="r" b="b"/>
            <a:pathLst>
              <a:path w="5537200" h="5080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406400"/>
                </a:lnTo>
                <a:cubicBezTo>
                  <a:pt x="5537200" y="462475"/>
                  <a:pt x="5491675" y="508000"/>
                  <a:pt x="5435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B100">
              <a:alpha val="30196"/>
            </a:srgbClr>
          </a:solidFill>
        </p:spPr>
      </p:sp>
      <p:sp>
        <p:nvSpPr>
          <p:cNvPr id="10" name="Shape 6"/>
          <p:cNvSpPr/>
          <p:nvPr/>
        </p:nvSpPr>
        <p:spPr>
          <a:xfrm>
            <a:off x="6578600" y="393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11" name="Text 7"/>
          <p:cNvSpPr/>
          <p:nvPr/>
        </p:nvSpPr>
        <p:spPr>
          <a:xfrm>
            <a:off x="7061200" y="3911600"/>
            <a:ext cx="259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Caution: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RUL 40-80 cycles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0" y="4470400"/>
            <a:ext cx="5537200" cy="508000"/>
          </a:xfrm>
          <a:custGeom>
            <a:avLst/>
            <a:gdLst/>
            <a:ahLst/>
            <a:cxnLst/>
            <a:rect l="l" t="t" r="r" b="b"/>
            <a:pathLst>
              <a:path w="5537200" h="5080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406400"/>
                </a:lnTo>
                <a:cubicBezTo>
                  <a:pt x="5537200" y="462475"/>
                  <a:pt x="5491675" y="508000"/>
                  <a:pt x="5435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6900">
              <a:alpha val="30196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6578600" y="4597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14" name="Text 10"/>
          <p:cNvSpPr/>
          <p:nvPr/>
        </p:nvSpPr>
        <p:spPr>
          <a:xfrm>
            <a:off x="7061200" y="4572000"/>
            <a:ext cx="26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Warning: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RUL 20-40 cycles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5130800"/>
            <a:ext cx="5537200" cy="508000"/>
          </a:xfrm>
          <a:custGeom>
            <a:avLst/>
            <a:gdLst/>
            <a:ahLst/>
            <a:cxnLst/>
            <a:rect l="l" t="t" r="r" b="b"/>
            <a:pathLst>
              <a:path w="5537200" h="5080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406400"/>
                </a:lnTo>
                <a:cubicBezTo>
                  <a:pt x="5537200" y="462475"/>
                  <a:pt x="5491675" y="508000"/>
                  <a:pt x="5435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7000B">
              <a:alpha val="30196"/>
            </a:srgbClr>
          </a:solidFill>
        </p:spPr>
      </p:sp>
      <p:sp>
        <p:nvSpPr>
          <p:cNvPr id="16" name="Shape 12"/>
          <p:cNvSpPr/>
          <p:nvPr/>
        </p:nvSpPr>
        <p:spPr>
          <a:xfrm>
            <a:off x="6578600" y="5257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82848" y="82848"/>
                </a:moveTo>
                <a:cubicBezTo>
                  <a:pt x="87511" y="78184"/>
                  <a:pt x="95052" y="78184"/>
                  <a:pt x="99665" y="82848"/>
                </a:cubicBezTo>
                <a:lnTo>
                  <a:pt x="126950" y="110133"/>
                </a:lnTo>
                <a:lnTo>
                  <a:pt x="154236" y="82848"/>
                </a:lnTo>
                <a:cubicBezTo>
                  <a:pt x="158899" y="78184"/>
                  <a:pt x="166439" y="78184"/>
                  <a:pt x="171053" y="82848"/>
                </a:cubicBezTo>
                <a:cubicBezTo>
                  <a:pt x="175667" y="87511"/>
                  <a:pt x="175716" y="95052"/>
                  <a:pt x="171053" y="99665"/>
                </a:cubicBezTo>
                <a:lnTo>
                  <a:pt x="143768" y="126950"/>
                </a:lnTo>
                <a:lnTo>
                  <a:pt x="171053" y="154236"/>
                </a:lnTo>
                <a:cubicBezTo>
                  <a:pt x="175716" y="158899"/>
                  <a:pt x="175716" y="166439"/>
                  <a:pt x="171053" y="171053"/>
                </a:cubicBezTo>
                <a:cubicBezTo>
                  <a:pt x="166390" y="175667"/>
                  <a:pt x="158849" y="175716"/>
                  <a:pt x="154236" y="171053"/>
                </a:cubicBezTo>
                <a:lnTo>
                  <a:pt x="126950" y="143768"/>
                </a:lnTo>
                <a:lnTo>
                  <a:pt x="99665" y="171053"/>
                </a:lnTo>
                <a:cubicBezTo>
                  <a:pt x="95002" y="175716"/>
                  <a:pt x="87461" y="175716"/>
                  <a:pt x="82848" y="171053"/>
                </a:cubicBezTo>
                <a:cubicBezTo>
                  <a:pt x="78234" y="166390"/>
                  <a:pt x="78184" y="158849"/>
                  <a:pt x="82848" y="154236"/>
                </a:cubicBezTo>
                <a:lnTo>
                  <a:pt x="110133" y="126950"/>
                </a:lnTo>
                <a:lnTo>
                  <a:pt x="82848" y="99665"/>
                </a:lnTo>
                <a:cubicBezTo>
                  <a:pt x="78184" y="95002"/>
                  <a:pt x="78184" y="87461"/>
                  <a:pt x="82848" y="82848"/>
                </a:cubicBezTo>
                <a:close/>
              </a:path>
            </a:pathLst>
          </a:custGeom>
          <a:solidFill>
            <a:srgbClr val="EAEAEA"/>
          </a:solidFill>
        </p:spPr>
      </p:sp>
      <p:sp>
        <p:nvSpPr>
          <p:cNvPr id="17" name="Text 13"/>
          <p:cNvSpPr/>
          <p:nvPr/>
        </p:nvSpPr>
        <p:spPr>
          <a:xfrm>
            <a:off x="7061200" y="5232400"/>
            <a:ext cx="240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Critical: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RUL &lt; 20 cycles</a:t>
            </a:r>
            <a:endParaRPr lang="en-US" sz="1600" dirty="0"/>
          </a:p>
        </p:txBody>
      </p:sp>
      <p:pic>
        <p:nvPicPr>
          <p:cNvPr id="18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947545"/>
            <a:ext cx="6083300" cy="29292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Sensor Behavior &amp; Feature Insights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248400" y="1549400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101594" y="0"/>
                </a:moveTo>
                <a:lnTo>
                  <a:pt x="5588006" y="0"/>
                </a:lnTo>
                <a:cubicBezTo>
                  <a:pt x="5644115" y="0"/>
                  <a:pt x="5689600" y="45485"/>
                  <a:pt x="5689600" y="101594"/>
                </a:cubicBezTo>
                <a:lnTo>
                  <a:pt x="5689600" y="1270006"/>
                </a:lnTo>
                <a:cubicBezTo>
                  <a:pt x="5689600" y="1326115"/>
                  <a:pt x="5644115" y="1371600"/>
                  <a:pt x="5588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6" name="Text 2"/>
          <p:cNvSpPr/>
          <p:nvPr/>
        </p:nvSpPr>
        <p:spPr>
          <a:xfrm>
            <a:off x="6451600" y="17526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Key Predictive Sensors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1600" y="21082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11, 14, 15, 17, 20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1600" y="2463800"/>
            <a:ext cx="5372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Highly correlated with RUL degradation.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8400" y="3124200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101594" y="0"/>
                </a:moveTo>
                <a:lnTo>
                  <a:pt x="5588006" y="0"/>
                </a:lnTo>
                <a:cubicBezTo>
                  <a:pt x="5644115" y="0"/>
                  <a:pt x="5689600" y="45485"/>
                  <a:pt x="5689600" y="101594"/>
                </a:cubicBezTo>
                <a:lnTo>
                  <a:pt x="5689600" y="1270006"/>
                </a:lnTo>
                <a:cubicBezTo>
                  <a:pt x="5689600" y="1326115"/>
                  <a:pt x="5644115" y="1371600"/>
                  <a:pt x="5588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6451600" y="33274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4B1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Weak / Non-informative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51600" y="36830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2, 5, 8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51600" y="4038600"/>
            <a:ext cx="5372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Show little to no correlation with RUL.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48400" y="46990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7AFFF">
              <a:alpha val="30196"/>
            </a:srgbClr>
          </a:solidFill>
        </p:spPr>
      </p:sp>
      <p:sp>
        <p:nvSpPr>
          <p:cNvPr id="14" name="Text 10"/>
          <p:cNvSpPr/>
          <p:nvPr/>
        </p:nvSpPr>
        <p:spPr>
          <a:xfrm>
            <a:off x="6451600" y="4902200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Example: Sensor_2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51600" y="5257800"/>
            <a:ext cx="5372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Remained flat across all cycles, confirming its irrelevance for prediction.</a:t>
            </a:r>
            <a:endParaRPr lang="en-US" sz="1600" dirty="0"/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549400"/>
            <a:ext cx="5979160" cy="375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7A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Findings &amp; Future Work</a:t>
            </a:r>
            <a:endParaRPr lang="en-US" sz="16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1016000"/>
            <a:ext cx="11730355" cy="5588000"/>
          </a:xfrm>
          <a:custGeom>
            <a:avLst/>
            <a:gdLst/>
            <a:ahLst/>
            <a:cxnLst/>
            <a:rect l="l" t="t" r="r" b="b"/>
            <a:pathLst>
              <a:path w="5689600" h="558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5486410"/>
                </a:lnTo>
                <a:cubicBezTo>
                  <a:pt x="5689600" y="5542517"/>
                  <a:pt x="5644117" y="5588000"/>
                  <a:pt x="55880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4931410" y="1320800"/>
            <a:ext cx="184594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4B1C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3263265" y="2433320"/>
            <a:ext cx="5181600" cy="259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Strong generalization with an </a:t>
            </a:r>
            <a:r>
              <a:rPr lang="en-US" sz="1600" b="1" dirty="0">
                <a:solidFill>
                  <a:srgbClr val="57A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RMSE of ~18 cycles</a:t>
            </a: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Early alert logic successfully improves maintenance efficiency.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Sensor analysis provides valuable insights for feature selection.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Hybrid model effectively captures complex temporal patterns.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1820" y="2417445"/>
            <a:ext cx="7571740" cy="14922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2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3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4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5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6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7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8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9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0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1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2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3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4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5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6.xml><?xml version="1.0" encoding="utf-8"?>
<p:tagLst xmlns:p="http://schemas.openxmlformats.org/presentationml/2006/main">
  <p:tag name="KSO_WM_DIAGRAM_VIRTUALLY_FRAME" val="{&quot;height&quot;:218.3444094488189,&quot;left&quot;:314.19133858267713,&quot;top&quot;:156.41889763779528,&quot;width&quot;:382.852125984252}"/>
</p:tagLst>
</file>

<file path=ppt/tags/tag17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8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19.xml><?xml version="1.0" encoding="utf-8"?>
<p:tagLst xmlns:p="http://schemas.openxmlformats.org/presentationml/2006/main">
  <p:tag name="KSO_WM_DIAGRAM_VIRTUALLY_FRAME" val="{&quot;height&quot;:218.3444094488189,&quot;left&quot;:314.19133858267713,&quot;top&quot;:156.41889763779528,&quot;width&quot;:382.852125984252}"/>
</p:tagLst>
</file>

<file path=ppt/tags/tag20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21.xml><?xml version="1.0" encoding="utf-8"?>
<p:tagLst xmlns:p="http://schemas.openxmlformats.org/presentationml/2006/main">
  <p:tag name="KSO_WM_DIAGRAM_VIRTUALLY_FRAME" val="{&quot;height&quot;:321.07385826771696,&quot;left&quot;:377.17125984251965,&quot;top&quot;:110.76125984251969,&quot;width&quot;:379.0925984251969}"/>
</p:tagLst>
</file>

<file path=ppt/tags/tag22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3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4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5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6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7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8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29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30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31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32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33.xml><?xml version="1.0" encoding="utf-8"?>
<p:tagLst xmlns:p="http://schemas.openxmlformats.org/presentationml/2006/main">
  <p:tag name="KSO_WM_DIAGRAM_VIRTUALLY_FRAME" val="{&quot;height&quot;:228,&quot;left&quot;:258.8,&quot;top&quot;:143.76700787401575,&quot;width&quot;:448}"/>
</p:tagLst>
</file>

<file path=ppt/tags/tag34.xml><?xml version="1.0" encoding="utf-8"?>
<p:tagLst xmlns:p="http://schemas.openxmlformats.org/presentationml/2006/main">
  <p:tag name="KSO_WM_DIAGRAM_VIRTUALLY_FRAME" val="{&quot;height&quot;:440,&quot;left&quot;:20,&quot;top&quot;:80,&quot;width&quot;:923.65}"/>
</p:tagLst>
</file>

<file path=ppt/tags/tag35.xml><?xml version="1.0" encoding="utf-8"?>
<p:tagLst xmlns:p="http://schemas.openxmlformats.org/presentationml/2006/main">
  <p:tag name="KSO_WM_DIAGRAM_VIRTUALLY_FRAME" val="{&quot;height&quot;:440,&quot;left&quot;:20,&quot;top&quot;:80,&quot;width&quot;:923.65}"/>
</p:tagLst>
</file>

<file path=ppt/tags/tag36.xml><?xml version="1.0" encoding="utf-8"?>
<p:tagLst xmlns:p="http://schemas.openxmlformats.org/presentationml/2006/main">
  <p:tag name="KSO_WM_DIAGRAM_VIRTUALLY_FRAME" val="{&quot;height&quot;:440,&quot;left&quot;:20,&quot;top&quot;:80,&quot;width&quot;:923.6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4780</Words>
  <Application>WPS Presentation</Application>
  <PresentationFormat>On-screen Show (16:9)</PresentationFormat>
  <Paragraphs>333</Paragraphs>
  <Slides>25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SimSun</vt:lpstr>
      <vt:lpstr>Wingdings</vt:lpstr>
      <vt:lpstr>Noto Sans SC</vt:lpstr>
      <vt:lpstr>Noto Sans SC</vt:lpstr>
      <vt:lpstr>MiSans</vt:lpstr>
      <vt:lpstr>MiSans</vt:lpstr>
      <vt:lpstr>PingFang SC Medium</vt:lpstr>
      <vt:lpstr>Segoe Print</vt:lpstr>
      <vt:lpstr>PingFang SC Medium</vt:lpstr>
      <vt:lpstr>PingFang SC Medium</vt:lpstr>
      <vt:lpstr>Calibri</vt:lpstr>
      <vt:lpstr>Microsoft YaHei</vt:lpstr>
      <vt:lpstr>Arial Unicode MS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PrognosAI: AI-Driven Predictive Maintenance</dc:title>
  <dc:creator>Kimi</dc:creator>
  <dc:subject>PrognosAI: AI-Driven Predictive Maintenance</dc:subject>
  <cp:lastModifiedBy>Praveen Kumar</cp:lastModifiedBy>
  <cp:revision>4</cp:revision>
  <dcterms:created xsi:type="dcterms:W3CDTF">2025-11-13T12:35:00Z</dcterms:created>
  <dcterms:modified xsi:type="dcterms:W3CDTF">2025-11-19T10:48:54Z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{"Label":"PrognosAI: AI-Driven Predictive Maintenance","ContentProducer":"001191110108MACG2KBH8F10000","ProduceID":"d4a8tv1nu9518c9kts1g","ReservedCode1":"","ContentPropagator":"001191110108MACG2KBH8F20000","PropagateID":"d4a8tv1nu9518c9kts1g","ReservedCode2":""}</vt:lpwstr>
  </property>
  <property fmtid="{D5CDD505-2E9C-101B-9397-08002B2CF9AE}" pid="3" name="ICV">
    <vt:lpwstr>8B979EF910A9429AA67A778DB46FD642_12</vt:lpwstr>
  </property>
  <property fmtid="{D5CDD505-2E9C-101B-9397-08002B2CF9AE}" pid="4" name="KSOProductBuildVer">
    <vt:lpwstr>2057-12.2.0.23149</vt:lpwstr>
  </property>
</Properties>
</file>